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042b148a761c403e" Type="http://schemas.openxmlformats.org/officeDocument/2006/relationships/extended-properties" Target="docProps/app.xml"/><Relationship Id="R08a84c9a501f47f3" Type="http://schemas.openxmlformats.org/officeDocument/2006/relationships/officeDocument" Target="ppt/presentation.xml"/><Relationship Id="R876cadd76e43400d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58aa671aecb4df7"/>
  </p:sldMasterIdLst>
  <p:notesMasterIdLst>
    <p:notesMasterId xmlns:r="http://schemas.openxmlformats.org/officeDocument/2006/relationships" r:id="R41daa30f73cc422f"/>
  </p:notesMasterIdLst>
  <p:sldIdLst>
    <p:sldId xmlns:r="http://schemas.openxmlformats.org/officeDocument/2006/relationships" id="256" r:id="Rc390e261551b4cad"/>
    <p:sldId xmlns:r="http://schemas.openxmlformats.org/officeDocument/2006/relationships" id="257" r:id="Ree1242b2f38c46a5"/>
    <p:sldId xmlns:r="http://schemas.openxmlformats.org/officeDocument/2006/relationships" id="258" r:id="Rc7d66a4659684610"/>
    <p:sldId xmlns:r="http://schemas.openxmlformats.org/officeDocument/2006/relationships" id="259" r:id="R64ab7979e5d34d0a"/>
    <p:sldId xmlns:r="http://schemas.openxmlformats.org/officeDocument/2006/relationships" id="260" r:id="R884c917ecbe54394"/>
    <p:sldId xmlns:r="http://schemas.openxmlformats.org/officeDocument/2006/relationships" id="261" r:id="Rb9d53daa4f464d05"/>
    <p:sldId xmlns:r="http://schemas.openxmlformats.org/officeDocument/2006/relationships" id="262" r:id="Rdc32d9d6537942f9"/>
    <p:sldId xmlns:r="http://schemas.openxmlformats.org/officeDocument/2006/relationships" id="263" r:id="R6e605f93e0bc41a8"/>
    <p:sldId xmlns:r="http://schemas.openxmlformats.org/officeDocument/2006/relationships" id="264" r:id="R16f3ef3da3b54773"/>
    <p:sldId xmlns:r="http://schemas.openxmlformats.org/officeDocument/2006/relationships" id="265" r:id="R8750dabc90c740eb"/>
    <p:sldId xmlns:r="http://schemas.openxmlformats.org/officeDocument/2006/relationships" id="266" r:id="Red6d5061e39247b3"/>
    <p:sldId xmlns:r="http://schemas.openxmlformats.org/officeDocument/2006/relationships" id="267" r:id="R0ca4eabb2c2e4f02"/>
    <p:sldId xmlns:r="http://schemas.openxmlformats.org/officeDocument/2006/relationships" id="268" r:id="R334e5c44e1bb4344"/>
    <p:sldId xmlns:r="http://schemas.openxmlformats.org/officeDocument/2006/relationships" id="269" r:id="R8a73108fe74a4a67"/>
    <p:sldId xmlns:ns0="http://schemas.openxmlformats.org/officeDocument/2006/relationships" id="270" ns0:id="rId2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ca4eabb2c2e4f02" Type="http://schemas.openxmlformats.org/officeDocument/2006/relationships/slide" Target="slides/slide12.xml"/><Relationship Id="R16f3ef3da3b54773" Type="http://schemas.openxmlformats.org/officeDocument/2006/relationships/slide" Target="slides/slide9.xml"/><Relationship Id="R334e5c44e1bb4344" Type="http://schemas.openxmlformats.org/officeDocument/2006/relationships/slide" Target="slides/slide13.xml"/><Relationship Id="R41daa30f73cc422f" Type="http://schemas.openxmlformats.org/officeDocument/2006/relationships/notesMaster" Target="notesMasters/notesMaster1.xml"/><Relationship Id="R64ab7979e5d34d0a" Type="http://schemas.openxmlformats.org/officeDocument/2006/relationships/slide" Target="slides/slide4.xml"/><Relationship Id="R6e605f93e0bc41a8" Type="http://schemas.openxmlformats.org/officeDocument/2006/relationships/slide" Target="slides/slide8.xml"/><Relationship Id="R80a8217049074b1c" Type="http://schemas.openxmlformats.org/officeDocument/2006/relationships/presProps" Target="presProps.xml"/><Relationship Id="R8750dabc90c740eb" Type="http://schemas.openxmlformats.org/officeDocument/2006/relationships/slide" Target="slides/slide10.xml"/><Relationship Id="R884c917ecbe54394" Type="http://schemas.openxmlformats.org/officeDocument/2006/relationships/slide" Target="slides/slide5.xml"/><Relationship Id="R8a73108fe74a4a67" Type="http://schemas.openxmlformats.org/officeDocument/2006/relationships/slide" Target="slides/slide14.xml"/><Relationship Id="R958aa671aecb4df7" Type="http://schemas.openxmlformats.org/officeDocument/2006/relationships/slideMaster" Target="slideMasters/slideMaster1.xml"/><Relationship Id="Rac0b4a1aa5904c2a" Type="http://schemas.openxmlformats.org/officeDocument/2006/relationships/tableStyles" Target="tableStyles.xml"/><Relationship Id="Rb9d53daa4f464d05" Type="http://schemas.openxmlformats.org/officeDocument/2006/relationships/slide" Target="slides/slide6.xml"/><Relationship Id="Rc390e261551b4cad" Type="http://schemas.openxmlformats.org/officeDocument/2006/relationships/slide" Target="slides/slide1.xml"/><Relationship Id="Rc7d66a4659684610" Type="http://schemas.openxmlformats.org/officeDocument/2006/relationships/slide" Target="slides/slide3.xml"/><Relationship Id="Rdade56a603c848e8" Type="http://schemas.openxmlformats.org/officeDocument/2006/relationships/theme" Target="theme/theme1.xml"/><Relationship Id="Rdc32d9d6537942f9" Type="http://schemas.openxmlformats.org/officeDocument/2006/relationships/slide" Target="slides/slide7.xml"/><Relationship Id="Red6d5061e39247b3" Type="http://schemas.openxmlformats.org/officeDocument/2006/relationships/slide" Target="slides/slide11.xml"/><Relationship Id="Ree1242b2f38c46a5" Type="http://schemas.openxmlformats.org/officeDocument/2006/relationships/slide" Target="slides/slide2.xml"/><Relationship Id="rId20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2f0d9753940b4a13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a380133bcd524b5f" Type="http://schemas.openxmlformats.org/officeDocument/2006/relationships/notesMaster" Target="../notesMasters/notesMaster1.xml"/><Relationship Id="Rc3c88074c4ab42fb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7b27b1219b5f4207" Type="http://schemas.openxmlformats.org/officeDocument/2006/relationships/notesMaster" Target="../notesMasters/notesMaster1.xml"/><Relationship Id="Rb9db66cb596742e9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9e5d50dc1e1641d5" Type="http://schemas.openxmlformats.org/officeDocument/2006/relationships/notesMaster" Target="../notesMasters/notesMaster1.xml"/><Relationship Id="R9fb1cf5fa7d34c5f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028231795420413a" Type="http://schemas.openxmlformats.org/officeDocument/2006/relationships/notesMaster" Target="../notesMasters/notesMaster1.xml"/><Relationship Id="Rfce77c988d2243a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3d3098b6bd5247c4" Type="http://schemas.openxmlformats.org/officeDocument/2006/relationships/slide" Target="../slides/slide5.xml"/><Relationship Id="Rf633c23f3ef54c9b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36fdf88475434f1a" Type="http://schemas.openxmlformats.org/officeDocument/2006/relationships/slide" Target="../slides/slide6.xml"/><Relationship Id="R5dd8c76bc9484d1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20289c43523a4e3c" Type="http://schemas.openxmlformats.org/officeDocument/2006/relationships/slide" Target="../slides/slide7.xml"/><Relationship Id="R436e4b97c21548ee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a87d9b279cc74bab" Type="http://schemas.openxmlformats.org/officeDocument/2006/relationships/slide" Target="../slides/slide8.xml"/><Relationship Id="Rf2f1fec37cd6465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299cc7faabaf41d0" Type="http://schemas.openxmlformats.org/officeDocument/2006/relationships/slide" Target="../slides/slide9.xml"/><Relationship Id="Ra717320e5c854a93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4dd08d9634c045ef" Type="http://schemas.openxmlformats.org/officeDocument/2006/relationships/notesMaster" Target="../notesMasters/notesMaster1.xml"/><Relationship Id="Rfb4745b6f15c42a0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8812d3d8c104430e" Type="http://schemas.openxmlformats.org/officeDocument/2006/relationships/notesMaster" Target="../notesMasters/notesMaster1.xml"/><Relationship Id="Rc52df0272fdb4cef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17199a691d0b4c52" Type="http://schemas.openxmlformats.org/officeDocument/2006/relationships/notesMaster" Target="../notesMasters/notesMaster1.xml"/><Relationship Id="R2472882cfdd0413e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090c14e1d9da465d" Type="http://schemas.openxmlformats.org/officeDocument/2006/relationships/slide" Target="../slides/slide13.xml"/><Relationship Id="Ra9545df5841d4397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a07fc05de0ce462a" Type="http://schemas.openxmlformats.org/officeDocument/2006/relationships/slide" Target="../slides/slide14.xml"/><Relationship Id="Rd637df5c4af6430b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(Member A · 0:00–0:25)</a:t>
            </a:r>
          </a:p>
          <a:p xmlns:a="http://schemas.openxmlformats.org/drawingml/2006/main">
            <a:r>
              <a:t>Ask: “When you plan a trip, how much time do you spend deciding where to go next?”</a:t>
            </a:r>
          </a:p>
          <a:p xmlns:a="http://schemas.openxmlformats.org/drawingml/2006/main">
            <a:r>
              <a:t>Then: “SmoothGo is built for the part of travel most apps ignore: the moment your plan stops working.”</a:t>
            </a:r>
          </a:p>
          <a:p xmlns:a="http://schemas.openxmlformats.org/drawingml/2006/main">
            <a:r>
              <a:t>Replace the six Member placeholders with all group members’ full names.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PROBLEM (Member A · 0:25–1:45)</a:t>
            </a:r>
          </a:p>
          <a:p xmlns:a="http://schemas.openxmlformats.org/drawingml/2006/main">
            <a:r>
              <a:t>Explain the difference between discovery and decision.</a:t>
            </a:r>
          </a:p>
          <a:p xmlns:a="http://schemas.openxmlformats.org/drawingml/2006/main">
            <a:r>
              <a:t>A traveller does not need 50 more options; they need one clear answer to “What should I do next, given the crowd?”</a:t>
            </a:r>
          </a:p>
          <a:p xmlns:a="http://schemas.openxmlformats.org/drawingml/2006/main">
            <a:r>
              <a:t>Do not invent survey statistics. The 45-minute example is an illustrative traveller scenario.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SOLUTION (Member A · 1:45–2:45)</a:t>
            </a:r>
          </a:p>
          <a:p xmlns:a="http://schemas.openxmlformats.org/drawingml/2006/main">
            <a:r>
              <a:t>SmoothGo is not a booking site. It is a decision layer.</a:t>
            </a:r>
          </a:p>
          <a:p xmlns:a="http://schemas.openxmlformats.org/drawingml/2006/main">
            <a:r>
              <a:t>The four steps are: preferences, live signals, plan, replan.</a:t>
            </a:r>
          </a:p>
          <a:p xmlns:a="http://schemas.openxmlformats.org/drawingml/2006/main">
            <a:r>
              <a:t>Mention that queue assistance is optional and limited to venues that explicitly allow 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CUSTOMERS (Member B · 2:45–3:45)</a:t>
            </a:r>
          </a:p>
          <a:p xmlns:a="http://schemas.openxmlformats.org/drawingml/2006/main">
            <a:r>
              <a:t>Explain why Changchun is a sensible pilot: local knowledge, lower acquisition cost, a compact set of attractions and access to university talent.</a:t>
            </a:r>
          </a:p>
          <a:p xmlns:a="http://schemas.openxmlformats.org/drawingml/2006/main">
            <a:r>
              <a:t>The expansion cities are a roadmap, not a claim of current operations.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 (Member F · 3:45–6:15)</a:t>
            </a:r>
          </a:p>
          <a:p xmlns:a="http://schemas.openxmlformats.org/drawingml/2006/main">
            <a:r>
              <a:t>Run the 60–90 second demo or play the screen recording.</a:t>
            </a:r>
          </a:p>
          <a:p xmlns:a="http://schemas.openxmlformats.org/drawingml/2006/main">
            <a:r>
              <a:t>Point out the replan moment. Do not narrate every screen.</a:t>
            </a:r>
          </a:p>
          <a:p xmlns:a="http://schemas.openxmlformats.org/drawingml/2006/main">
            <a:r>
              <a:t>Say explicitly: prototype data is illustrative and no real booking is created.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HOW IT WORKS (Member F · 6:15–7:15)</a:t>
            </a:r>
          </a:p>
          <a:p xmlns:a="http://schemas.openxmlformats.org/drawingml/2006/main">
            <a:r>
              <a:t>Be honest: the prototype uses a rule-based score and illustrative data.</a:t>
            </a:r>
          </a:p>
          <a:p xmlns:a="http://schemas.openxmlformats.org/drawingml/2006/main">
            <a:r>
              <a:t>The production roadmap is live venue APIs, opt-in user reports and a learned crowd-forecasting model.</a:t>
            </a:r>
          </a:p>
          <a:p xmlns:a="http://schemas.openxmlformats.org/drawingml/2006/main">
            <a:r>
              <a:t>Explainability matters: the user can see why a stop was recommended.</a:t>
            </a:r>
          </a:p>
          <a:p xmlns:a="http://schemas.openxmlformats.org/drawingml/2006/main">
            <a:r>
              <a:t>If asked about accuracy: every queue estimate is a range with a stated confidence, not a single number.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MARKET (Member B · 7:15–8:15)</a:t>
            </a:r>
          </a:p>
          <a:p xmlns:a="http://schemas.openxmlformats.org/drawingml/2006/main">
            <a:r>
              <a:t>Do not attack competitors. Position SmoothGo as a decision layer that can partner with them.</a:t>
            </a:r>
          </a:p>
          <a:p xmlns:a="http://schemas.openxmlformats.org/drawingml/2006/main">
            <a:r>
              <a:t>The table is a qualitative comparison; cite company websites and annual reports in the reference list.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BUSINESS MODEL (Member C · 8:15–9:45)</a:t>
            </a:r>
          </a:p>
          <a:p xmlns:a="http://schemas.openxmlformats.org/drawingml/2006/main">
            <a:r>
              <a:t>The base planner can be free. Revenue comes from optional convenience and merchant tools.</a:t>
            </a:r>
          </a:p>
          <a:p xmlns:a="http://schemas.openxmlformats.org/drawingml/2006/main">
            <a:r>
              <a:t>Do not say you will sell user data.</a:t>
            </a:r>
          </a:p>
          <a:p xmlns:a="http://schemas.openxmlformats.org/drawingml/2006/main">
            <a:r>
              <a:t>The prices are illustrative, not validated market prices.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OPERATIONS (Member D · 9:45–10:45)</a:t>
            </a:r>
          </a:p>
          <a:p xmlns:a="http://schemas.openxmlformats.org/drawingml/2006/main">
            <a:r>
              <a:t>This slide answers the premises requirement directly: software-led, no stores or equipment.</a:t>
            </a:r>
          </a:p>
          <a:p xmlns:a="http://schemas.openxmlformats.org/drawingml/2006/main">
            <a:r>
              <a:t>Stress the QR handoff and the opt-in data model.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MARKETING (Member D · 10:45–11:45)</a:t>
            </a:r>
          </a:p>
          <a:p xmlns:a="http://schemas.openxmlformats.org/drawingml/2006/main">
            <a:r>
              <a:t>The first campaign should be local and measurable: one city, ten venues, one thousand users.</a:t>
            </a:r>
          </a:p>
          <a:p xmlns:a="http://schemas.openxmlformats.org/drawingml/2006/main">
            <a:r>
              <a:t>Do not claim national reach before the pilot.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FINANCE (Member C · 11:45–12:45)</a:t>
            </a:r>
          </a:p>
          <a:p xmlns:a="http://schemas.openxmlformats.org/drawingml/2006/main">
            <a:r>
              <a:t>Label every number as an assumption.</a:t>
            </a:r>
          </a:p>
          <a:p xmlns:a="http://schemas.openxmlformats.org/drawingml/2006/main">
            <a:r>
              <a:t>The purpose is to show financial logic, not to pretend the pilot has real traction.</a:t>
            </a:r>
          </a:p>
          <a:p xmlns:a="http://schemas.openxmlformats.org/drawingml/2006/main">
            <a:r>
              <a:t>Check the arithmetic before the final rehearsal.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RISKS (Member E · 12:45–13:45)</a:t>
            </a:r>
          </a:p>
          <a:p xmlns:a="http://schemas.openxmlformats.org/drawingml/2006/main">
            <a:r>
              <a:t>Discuss compliance openly. A foreign teacher will appreciate that the team has thought about fairness, not just growth.</a:t>
            </a:r>
          </a:p>
          <a:p xmlns:a="http://schemas.openxmlformats.org/drawingml/2006/main">
            <a:r>
              <a:t>Say clearly: scenic areas are information-only until local rules are confirmed.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CONCLUSION (Member E · 13:45–15:00)</a:t>
            </a:r>
          </a:p>
          <a:p xmlns:a="http://schemas.openxmlformats.org/drawingml/2006/main">
            <a:r>
              <a:t>End with the takeaway, not a generic thank-you.</a:t>
            </a:r>
          </a:p>
          <a:p xmlns:a="http://schemas.openxmlformats.org/drawingml/2006/main">
            <a:r>
              <a:t>Restate: clear pain, simple promise, light model, scalable path.</a:t>
            </a:r>
          </a:p>
          <a:p xmlns:a="http://schemas.openxmlformats.org/drawingml/2006/main">
            <a:r>
              <a:t>Invite questions and use the prepared Q&amp;A bank.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 (Member B)</a:t>
            </a:r>
          </a:p>
          <a:p xmlns:a="http://schemas.openxmlformats.org/drawingml/2006/main">
            <a:r>
              <a:t>Do not invent page numbers or statistics.</a:t>
            </a:r>
          </a:p>
          <a:p xmlns:a="http://schemas.openxmlformats.org/drawingml/2006/main">
            <a:r>
              <a:t>Open each source, copy the exact title, year and URL, and format consistently in Harvard style.</a:t>
            </a:r>
          </a:p>
          <a:p xmlns:a="http://schemas.openxmlformats.org/drawingml/2006/main">
            <a:r>
              <a:t>The SCU Library guide is the authority for the final format.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· LEAVE UP FOR Q&amp;A (Member F · after 15:00)</a:t>
            </a:r>
          </a:p>
          <a:p/>
          <a:p>
            <a:r>
              <a:t>Do not talk over this slide -- it is a hand-off, not a beat.</a:t>
            </a:r>
          </a:p>
          <a:p>
            <a:r>
              <a:t>Say: "One link, no install. It works on your phone right now."</a:t>
            </a:r>
          </a:p>
          <a:p>
            <a:r>
              <a:t>Then leave it on screen for the whole Q&amp;A so people can scan at their</a:t>
            </a:r>
          </a:p>
          <a:p>
            <a:r>
              <a:t>own pace. If the wifi dies, the screenshot pages 5-6 still carry the demo.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849231bf646940e4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1893e3e20f38466b" Type="http://schemas.openxmlformats.org/officeDocument/2006/relationships/slideLayout" Target="../slideLayouts/slideLayout1.xml"/><Relationship Id="R8c6bf9160a414ae8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893e3e20f38466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4eddeba2f9c64475" Type="http://schemas.openxmlformats.org/officeDocument/2006/relationships/notesSlide" Target="../notesSlides/notesSlide1.xml"/><Relationship Id="Rc1c8892e960d438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799760c963f14578" Type="http://schemas.openxmlformats.org/officeDocument/2006/relationships/slideLayout" Target="../slideLayouts/slideLayout1.xml"/><Relationship Id="Rf305676838814fdb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5e2683af1719489b" Type="http://schemas.openxmlformats.org/officeDocument/2006/relationships/slideLayout" Target="../slideLayouts/slideLayout1.xml"/><Relationship Id="Rd9100d9155a244e9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21527cffb5694eba" Type="http://schemas.openxmlformats.org/officeDocument/2006/relationships/slideLayout" Target="../slideLayouts/slideLayout1.xml"/><Relationship Id="R6df3fa3c998a442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c24a8176f4844fd0" Type="http://schemas.openxmlformats.org/officeDocument/2006/relationships/notesSlide" Target="../notesSlides/notesSlide5.xml"/><Relationship Id="Rf4d9a6c62ced4efa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10ebba111e8a40b5" Type="http://schemas.openxmlformats.org/officeDocument/2006/relationships/slideLayout" Target="../slideLayouts/slideLayout1.xml"/><Relationship Id="Ra5ef182c3c09424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08775979b7624fb3" Type="http://schemas.openxmlformats.org/officeDocument/2006/relationships/notesSlide" Target="../notesSlides/notesSlide7.xml"/><Relationship Id="R6706ab0e2e4c44a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6349ba4de4564eab" Type="http://schemas.openxmlformats.org/officeDocument/2006/relationships/notesSlide" Target="../notesSlides/notesSlide8.xml"/><Relationship Id="R72dc7eff5e024705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35482d32dc4646e5" Type="http://schemas.openxmlformats.org/officeDocument/2006/relationships/notesSlide" Target="../notesSlides/notesSlide9.xml"/><Relationship Id="R4b6f0e6e2686401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28ba869c3d3d4c05" Type="http://schemas.openxmlformats.org/officeDocument/2006/relationships/slideLayout" Target="../slideLayouts/slideLayout1.xml"/><Relationship Id="R996defe5c4ae4db9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701dc98dd9a8488f" Type="http://schemas.openxmlformats.org/officeDocument/2006/relationships/chart" Target="charts/chart1.xml"/><Relationship Id="R7a192cfc94fc4b28" Type="http://schemas.openxmlformats.org/officeDocument/2006/relationships/slideLayout" Target="../slideLayouts/slideLayout1.xml"/><Relationship Id="Rcaf28048fede4ff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13ddc310b5bc4b29" Type="http://schemas.openxmlformats.org/officeDocument/2006/relationships/slideLayout" Target="../slideLayouts/slideLayout1.xml"/><Relationship Id="Rbda34ea8258a4dfa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42ff7c4dc7ed47d3" Type="http://schemas.openxmlformats.org/officeDocument/2006/relationships/slideLayout" Target="../slideLayouts/slideLayout1.xml"/><Relationship Id="Rbe260f78c9eb46fa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a0c609cd99114a86" Type="http://schemas.openxmlformats.org/officeDocument/2006/relationships/notesSlide" Target="../notesSlides/notesSlide14.xml"/><Relationship Id="Ra2a57cb01b464377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Revenue</c:v>
          </c:tx>
          <c:spPr>
            <a:solidFill xmlns:a="http://schemas.openxmlformats.org/drawingml/2006/main">
              <a:srgbClr val="0F9D86"/>
            </a:solidFill>
          </c:spPr>
          <c:cat>
            <c:strLit>
              <c:ptCount val="3"/>
              <c:pt idx="0">
                <c:v>Month 6</c:v>
              </c:pt>
              <c:pt idx="1">
                <c:v>Month 9</c:v>
              </c:pt>
              <c:pt idx="2">
                <c:v>Month 12</c:v>
              </c:pt>
            </c:strLit>
          </c:cat>
          <c:val>
            <c:numLit>
              <c:formatCode>"¥"#,##0"k"</c:formatCode>
              <c:ptCount val="3"/>
              <c:pt idx="0">
                <c:v>12</c:v>
              </c:pt>
              <c:pt idx="1">
                <c:v>22</c:v>
              </c:pt>
              <c:pt idx="2">
                <c:v>35</c:v>
              </c:pt>
            </c:numLit>
          </c:val>
        </c:ser>
        <c:ser>
          <c:idx val="1"/>
          <c:order val="1"/>
          <c:tx>
            <c:v>Operating cost</c:v>
          </c:tx>
          <c:spPr>
            <a:solidFill xmlns:a="http://schemas.openxmlformats.org/drawingml/2006/main">
              <a:srgbClr val="D9E3DC"/>
            </a:solidFill>
          </c:spPr>
          <c:cat>
            <c:strLit>
              <c:ptCount val="3"/>
              <c:pt idx="0">
                <c:v>Month 6</c:v>
              </c:pt>
              <c:pt idx="1">
                <c:v>Month 9</c:v>
              </c:pt>
              <c:pt idx="2">
                <c:v>Month 12</c:v>
              </c:pt>
            </c:strLit>
          </c:cat>
          <c:val>
            <c:numLit>
              <c:formatCode>"¥"#,##0"k"</c:formatCode>
              <c:ptCount val="3"/>
              <c:pt idx="0">
                <c:v>18</c:v>
              </c:pt>
              <c:pt idx="1">
                <c:v>22</c:v>
              </c:pt>
              <c:pt idx="2">
                <c:v>27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>
                  <a:solidFill>
                    <a:srgbClr val="294039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8EEE9"/>
              </a:solidFill>
              <a:prstDash val="solid"/>
            </a:ln>
          </c:spPr>
        </c:majorGridlines>
        <c:numFmt formatCode="&quot;¥&quot;#,##0&quot;k&quot;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75">
              <a:solidFill>
                <a:srgbClr val="64766D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A24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D7609C8-B874-43BD-A0DB-0000551B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0"/>
            <a:ext cx="3619500" cy="3619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7EBE14-E45F-4345-AA8A-0E6C64FF3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000500"/>
            <a:ext cx="2571750" cy="2571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2E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9A11B7-6719-4210-9286-B069C1F9C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41910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123A32"/>
          </a:solidFill>
          <a:ln xmlns:a="http://schemas.openxmlformats.org/drawingml/2006/main" w="9525">
            <a:solidFill>
              <a:srgbClr val="1D504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342ECF-7F47-42E6-9737-19B4AE032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9125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>
                <a:solidFill>
                  <a:srgbClr val="48E0BB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48E0BB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1D2ED0-3638-41DD-9506-8920FC1F9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638175"/>
            <a:ext cx="323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8DB7A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8DB7AA"/>
                </a:solidFill>
                <a:latin typeface="Arial"/>
                <a:ea typeface="Arial"/>
                <a:cs typeface="Arial"/>
              </a:rPr>
              <a:t>SMOOTHGO  ·  AI TRAVEL PLANNER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548A0E-643D-4134-AC5B-41D656CE1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666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5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Travel smart.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A66373-5373-45B4-B6CB-F472529AC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666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5100" b="1">
                <a:solidFill>
                  <a:srgbClr val="48E0BB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48E0BB"/>
                </a:solidFill>
                <a:latin typeface="Arial"/>
                <a:ea typeface="Arial"/>
                <a:cs typeface="Arial"/>
              </a:rPr>
              <a:t>Skip the wait.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9FE9F3-8AD8-4EB4-9EC5-3AE917CF9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33750"/>
            <a:ext cx="514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725" b="0">
                <a:solidFill>
                  <a:srgbClr val="D7E9E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D7E9E2"/>
                </a:solidFill>
                <a:latin typeface="Arial"/>
                <a:ea typeface="Arial"/>
                <a:cs typeface="Arial"/>
              </a:rPr>
              <a:t>An AI-assisted travel planner that turns live crowd signals into a calmer, personal day plan.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DBA626-F405-4C86-B016-ED130A3D4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123950"/>
            <a:ext cx="3429000" cy="40386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0E3028"/>
          </a:solidFill>
          <a:ln xmlns:a="http://schemas.openxmlformats.org/drawingml/2006/main" w="9525">
            <a:solidFill>
              <a:srgbClr val="1C4A3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D92684-C09B-48BE-BDB5-C2655A867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4287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8DB7A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8DB7AA"/>
                </a:solidFill>
                <a:latin typeface="Arial"/>
                <a:ea typeface="Arial"/>
                <a:cs typeface="Arial"/>
              </a:rPr>
              <a:t>A CALMER DAY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102954-6AF5-4DE5-9005-6D386C1D8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771650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Changchun · Sunday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EDA6AF-FD95-4607-87E7-4405DA280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5336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E0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587F5D-1835-45C4-9547-98D6153F2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213" y="26479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67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D08564-A3EA-4207-8FAA-F694D94B0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438400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A9C9B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A9C9BE"/>
                </a:solidFill>
                <a:latin typeface="Arial"/>
                <a:ea typeface="Arial"/>
                <a:cs typeface="Arial"/>
              </a:rPr>
              <a:t>09:30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DC9CFD-5DB9-454A-8BFA-DAAD26616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3907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Jingyuetan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4B64CA-32CE-4321-B179-C8CBD958C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6955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9FC0B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C0B5"/>
                </a:solidFill>
                <a:latin typeface="Arial"/>
                <a:ea typeface="Arial"/>
                <a:cs typeface="Arial"/>
              </a:rPr>
              <a:t>18 min queue · low crowd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511A70-897E-4DD1-9E02-EB4E2D31D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2766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B6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1BC611-608F-4EB2-9176-8310B51DB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213" y="339090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67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929BC0-FC85-47E3-85EA-496444FF1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81350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A9C9B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A9C9BE"/>
                </a:solidFill>
                <a:latin typeface="Arial"/>
                <a:ea typeface="Arial"/>
                <a:cs typeface="Arial"/>
              </a:rPr>
              <a:t>12:10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CBC50D-1334-4931-A45B-7A63DEAC0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13372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Hill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AA92E6-A496-45C4-9061-ADF2E9FAC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43852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9FC0B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C0B5"/>
                </a:solidFill>
                <a:latin typeface="Arial"/>
                <a:ea typeface="Arial"/>
                <a:cs typeface="Arial"/>
              </a:rPr>
              <a:t>Lunch + design market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9B8066-4FD0-4E27-9465-BF6BEC16A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019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0AA335-9E9B-49B8-974A-F14E9F538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924300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A9C9B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A9C9BE"/>
                </a:solidFill>
                <a:latin typeface="Arial"/>
                <a:ea typeface="Arial"/>
                <a:cs typeface="Arial"/>
              </a:rPr>
              <a:t>14:00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BCDD19-EB7C-4ABC-AA70-8B7A253F9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8766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Guilin Road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257FA9C-93B7-4C09-85A8-63A22EBC3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1814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9FC0B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C0B5"/>
                </a:solidFill>
                <a:latin typeface="Arial"/>
                <a:ea typeface="Arial"/>
                <a:cs typeface="Arial"/>
              </a:rPr>
              <a:t>12 min queue · food window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D5465E-D796-4B7A-83F6-20FD91620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629150"/>
            <a:ext cx="125730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749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FA10BF7-EA06-43AB-9486-D47446407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686300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48E0B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48E0BB"/>
                </a:solidFill>
                <a:latin typeface="Arial"/>
                <a:ea typeface="Arial"/>
                <a:cs typeface="Arial"/>
              </a:rPr>
              <a:t>1h 20m saved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E2DD22A-4EC0-423F-914D-39223FBCE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686300"/>
            <a:ext cx="1381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1">
                <a:solidFill>
                  <a:srgbClr val="87AC9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7AC9F"/>
                </a:solidFill>
                <a:latin typeface="Arial"/>
                <a:ea typeface="Arial"/>
                <a:cs typeface="Arial"/>
              </a:rPr>
              <a:t>REPLANNED IN 1.2s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3F045EE-947F-4E83-861D-520641429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72100"/>
            <a:ext cx="695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8DB7A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8DB7AA"/>
                </a:solidFill>
                <a:latin typeface="Arial"/>
                <a:ea typeface="Arial"/>
                <a:cs typeface="Arial"/>
              </a:rPr>
              <a:t>Presented by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D035B84-EF1D-4D0C-90C2-1A8CDC24F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Member 1  ·  Member 2  ·  Member 3  ·  Member 4  ·  Member 5  ·  Member 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D19674-4CAD-4549-B915-603E03C0B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34100"/>
            <a:ext cx="7429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83AA9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83AA9D"/>
                </a:solidFill>
                <a:latin typeface="Arial"/>
                <a:ea typeface="Arial"/>
                <a:cs typeface="Arial"/>
              </a:rPr>
              <a:t>Changchun Normal University  |  Southern Cross University  |  2026</a:t>
            </a:r>
          </a:p>
        </p:txBody>
      </p:sp>
    </p:spTree>
    <p:extLst>
      <p:ext uri="{BB962C8B-B14F-4D97-AF65-F5344CB8AC3E}">
        <p14:creationId xmlns:p14="http://schemas.microsoft.com/office/powerpoint/2010/main" val="154220277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1A52A3A-5D49-461B-90BD-FF0C67690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THE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4291E9-5BEE-485E-97D5-55006F0C6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10287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3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The itinerary is not the hard part.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33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The queue is.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E8B47E-3E42-4BB6-8677-43B780962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3048000" cy="29718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0EA"/>
          </a:solidFill>
          <a:ln xmlns:a="http://schemas.openxmlformats.org/drawingml/2006/main" w="9525">
            <a:solidFill>
              <a:srgbClr val="FFD7C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44538B-FB0B-44AE-B485-EA69848F9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1935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B14A34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B14A34"/>
                </a:solidFill>
                <a:latin typeface="Arial"/>
                <a:ea typeface="Arial"/>
                <a:cs typeface="Arial"/>
              </a:rPr>
              <a:t>A TYPICAL DAY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3F66D6-D4CD-4FBC-B7B1-FB88DD324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24150"/>
            <a:ext cx="2381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6150" b="1">
                <a:solidFill>
                  <a:srgbClr val="FF6B4A"/>
                </a:solidFill>
                <a:latin typeface="Arial"/>
                <a:ea typeface="Arial"/>
                <a:cs typeface="Arial"/>
              </a:defRPr>
            </a:pPr>
            <a:r>
              <a:rPr sz="6150" b="1">
                <a:solidFill>
                  <a:srgbClr val="FF6B4A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EE1A7A-E53C-49F6-AF2D-8E7AF5B1B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3855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minutes in one queue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040476-DF80-4F9E-8A04-082A39A99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100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That can erase an entire stop from a short trip.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9D05E3-E4A3-41E5-8DD1-FFC593185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3241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0341B6-C8E7-4EFE-8216-505D7F03D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37172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F0ECA7-C1EE-4831-A44A-20A3B6659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266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Time disappears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4C07A1-9A1A-49B9-B850-9CB0D8E4F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581275"/>
            <a:ext cx="5619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Travellers lose hours waiting, not exploring.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552742-95DD-437D-99F5-E566CD7EF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143250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897A67-8E44-42FB-A8D8-3BD201F4A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3909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B6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8BF3F1-D6A1-4338-B5BD-3744AFF51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43852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C55EB0-5951-4D53-931C-1500F6A2D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3337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Plans break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8E0294-B8F7-4C23-A586-C48099642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648075"/>
            <a:ext cx="5619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Crowds, weather and opening hours change by the hour.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46C24D-1D29-4284-A773-5F59CB462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210050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57C78B-706C-40B4-B888-77366B5C2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4577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D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F8E930-CBD4-4058-A85F-CE41089ED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50532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3C762C-3D9B-4C20-81CB-CF83248F7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4005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Apps answer the wrong question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CF07B3-831F-4425-8471-AAC68353C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714875"/>
            <a:ext cx="5619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Most show what exists, not what is worth doing now.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3CE527-6494-48B3-A02F-064209108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467350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C086B5-A660-4DC6-9DDE-DF674BE2C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676900"/>
            <a:ext cx="619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The opportunity: make the next decision, not another list.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C331BE-8633-4E0D-B204-4E82DA49A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6C744DF-0C51-4B80-B2FE-19C7470AB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103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SmoothGo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3847D87-212E-4B61-99D9-7B0EE9C0D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610350"/>
            <a:ext cx="1123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02 / 14</a:t>
            </a:r>
          </a:p>
        </p:txBody>
      </p:sp>
    </p:spTree>
    <p:extLst>
      <p:ext uri="{BB962C8B-B14F-4D97-AF65-F5344CB8AC3E}">
        <p14:creationId xmlns:p14="http://schemas.microsoft.com/office/powerpoint/2010/main" val="2441134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48A23D2-35A9-4BEE-A812-E465F93DC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OUR SOLUTION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250F74-BFDC-438B-AD47-84516752D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9334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6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A day plan that changes when the city does.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2EC654-8473-4280-9810-DBB8F5C45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067050"/>
            <a:ext cx="990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E6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33D9FA-5C6A-4909-A657-5FFE8E1A2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432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F7F1"/>
          </a:solidFill>
          <a:ln xmlns:a="http://schemas.openxmlformats.org/drawingml/2006/main" w="9525">
            <a:solidFill>
              <a:srgbClr val="C9EB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9ADB04-7E0A-48A7-A1ED-BEC207EEA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886075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E5713A-C3F4-4358-85AB-EB579B13F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38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Preferences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590A7C-008C-4F1D-8A04-703CA001C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386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Interests, pace, group and start time.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791CF5-2AE7-4900-B466-37918A999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85750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25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3A33CF-92EF-4601-8EF4-48428219D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7432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F7F1"/>
          </a:solidFill>
          <a:ln xmlns:a="http://schemas.openxmlformats.org/drawingml/2006/main" w="9525">
            <a:solidFill>
              <a:srgbClr val="C9EB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27F523-0719-47F6-81A6-03D091922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86075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B5F515-5420-4961-9A5E-645B064B9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638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Live signals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AC51DA-A8D4-45C7-80E9-6DA5B139B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0386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Crowd pressure and expected queue time.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F56E6E-7C13-4899-86D5-AB8711B6A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85750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25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15334D-69E8-4BE0-A240-ED0319C2E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7432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F7F1"/>
          </a:solidFill>
          <a:ln xmlns:a="http://schemas.openxmlformats.org/drawingml/2006/main" w="9525">
            <a:solidFill>
              <a:srgbClr val="C9EB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5FB9A0-E5F2-4C6D-A29A-61D888A25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886075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FE5C03-356C-4C36-BB0F-AA6F5C5B0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638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A real plan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9E7FA0-DD51-4B71-AF07-A82DABD8A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0386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A time-boxed route with travel and meals.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166DCE-F8CD-4C2F-A2FD-0F1DBB01F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85750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25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96EFCB-5478-4ED4-A8E6-59C98B307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7432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241F"/>
          </a:solidFill>
          <a:ln xmlns:a="http://schemas.openxmlformats.org/drawingml/2006/main" w="9525">
            <a:solidFill>
              <a:srgbClr val="0A241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0B67A4-8C2A-4E19-9CEF-0FB8ADE0C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886075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48E0B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48E0BB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8EC0D6-50C1-48B4-9132-44029B29E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638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Replan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FCAC0C-F7D2-4C49-85B3-4A9D94A8C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0386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Swap the busy stop before the day is lost.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26A443-A65B-4362-B00E-081BB04D7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10820400" cy="781050"/>
          </a:xfrm>
          <a:prstGeom xmlns:a="http://schemas.openxmlformats.org/drawingml/2006/main" prst="roundRect">
            <a:avLst>
              <a:gd name="adj" fmla="val 19512"/>
            </a:avLst>
          </a:prstGeom>
          <a:solidFill xmlns:a="http://schemas.openxmlformats.org/drawingml/2006/main">
            <a:srgbClr val="0A24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5A9FF6-C95A-4D34-AA50-1C2315358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91150"/>
            <a:ext cx="619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Optional: verified queue assistance where venue rules allow.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394F23F-2E46-454D-9FF8-7BBDFE54B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42925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75" b="0">
                <a:solidFill>
                  <a:srgbClr val="8DB7A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8DB7AA"/>
                </a:solidFill>
                <a:latin typeface="Arial"/>
                <a:ea typeface="Arial"/>
                <a:cs typeface="Arial"/>
              </a:rPr>
              <a:t>No ticket skipping. No priority access.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7DD0082-FE69-49B4-9DC8-C922E0EB8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55F16BA-081D-43CE-9974-49EEB1326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103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SmoothGo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C279B4-0147-436C-BA7F-EB0F3446A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610350"/>
            <a:ext cx="1123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03 / 14</a:t>
            </a:r>
          </a:p>
        </p:txBody>
      </p:sp>
    </p:spTree>
    <p:extLst>
      <p:ext uri="{BB962C8B-B14F-4D97-AF65-F5344CB8AC3E}">
        <p14:creationId xmlns:p14="http://schemas.microsoft.com/office/powerpoint/2010/main" val="1270109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FB7590-A0C3-480F-BDAF-126DCF9D7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TARGET CUSTOMERS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BA3C43-7022-449E-8FEF-F97468647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9334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6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Three travellers, one shared pain.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5272C2-A3ED-494E-B738-9DA136899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3314700" cy="2381250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E5F7F1"/>
          </a:solidFill>
          <a:ln xmlns:a="http://schemas.openxmlformats.org/drawingml/2006/main" w="9525">
            <a:solidFill>
              <a:srgbClr val="E2ECE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B33A80-D4F5-4836-9B21-4F1E69740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574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D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89E5D8-9EF5-43CA-90D4-A05ABBDFE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527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EE64AE-9E3A-4E19-899A-4CBFEA7E5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67050"/>
            <a:ext cx="272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Independent travellers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65243E-9F46-4EFF-9315-AFD2A142C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86150"/>
            <a:ext cx="2724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294039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94039"/>
                </a:solidFill>
                <a:latin typeface="Arial"/>
                <a:ea typeface="Arial"/>
                <a:cs typeface="Arial"/>
              </a:rPr>
              <a:t>Want flexibility without wasting the day.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DA49DE-47CB-4051-B0EC-5E3A5EF7A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14800"/>
            <a:ext cx="2724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Need: a better next decision.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5BEDFE-1243-44A5-A52E-C5B75240C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190750"/>
            <a:ext cx="3314700" cy="2381250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FFF7E4"/>
          </a:solidFill>
          <a:ln xmlns:a="http://schemas.openxmlformats.org/drawingml/2006/main" w="9525">
            <a:solidFill>
              <a:srgbClr val="E2ECE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36C47D-C8C8-4335-ABA4-06F3DE956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574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B6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4451B2-5918-474C-91C3-2665FE424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527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F4D198-10D0-4C77-B890-64A289541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067050"/>
            <a:ext cx="272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Families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8ACF17-420F-4579-8F74-E4D6B1C95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486150"/>
            <a:ext cx="2724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294039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94039"/>
                </a:solidFill>
                <a:latin typeface="Arial"/>
                <a:ea typeface="Arial"/>
                <a:cs typeface="Arial"/>
              </a:rPr>
              <a:t>Need a realistic pace and fewer meltdowns.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F8DFC7-5332-45A1-95DE-B96386DDE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114800"/>
            <a:ext cx="2724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F3B63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3B63F"/>
                </a:solidFill>
                <a:latin typeface="Arial"/>
                <a:ea typeface="Arial"/>
                <a:cs typeface="Arial"/>
              </a:rPr>
              <a:t>Need: shorter queues, clearer timing.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E1C3F2-F47D-4DDF-A0D2-BDE3341D1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190750"/>
            <a:ext cx="3314700" cy="2381250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FFF0EA"/>
          </a:solidFill>
          <a:ln xmlns:a="http://schemas.openxmlformats.org/drawingml/2006/main" w="9525">
            <a:solidFill>
              <a:srgbClr val="E2EC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EA3DBD-36E6-4C83-990C-1F87927DF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574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76CE3A-8BC3-4427-A8AD-F7A09D97C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527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7688BC-D72B-40DD-A228-1711EED6F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067050"/>
            <a:ext cx="272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Business travellers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3CE8AA-7E5F-467E-B661-0DC251269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486150"/>
            <a:ext cx="2724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294039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94039"/>
                </a:solidFill>
                <a:latin typeface="Arial"/>
                <a:ea typeface="Arial"/>
                <a:cs typeface="Arial"/>
              </a:rPr>
              <a:t>Have short windows and high time value.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96113F-C363-4BF3-A2CD-74A0303DB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114800"/>
            <a:ext cx="2724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FF6B4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6B4A"/>
                </a:solidFill>
                <a:latin typeface="Arial"/>
                <a:ea typeface="Arial"/>
                <a:cs typeface="Arial"/>
              </a:rPr>
              <a:t>Need: a plan that protects the hour.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CDA767-B233-4732-B9EA-0434B587E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D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393F3D-CC9F-4C0F-94C2-7AF8EF789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19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PILOT MARKET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7723791-0B79-479D-8C8E-C5C37F19C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864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Changchun, Jilin Province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DE4523-7190-4D9F-ADA9-A465111A4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467350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50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Changchun  →  Xi’an  →  Chongqing  →  Changsha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CAD64A3-798F-4B7B-AD4D-0A20627DC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97E46E3-F7E0-4A75-9BE2-0595C264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103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SmoothGo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C9EC0A9-1E5A-41BA-A120-8EE756B46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610350"/>
            <a:ext cx="1123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04 / 14</a:t>
            </a:r>
          </a:p>
        </p:txBody>
      </p:sp>
    </p:spTree>
    <p:extLst>
      <p:ext uri="{BB962C8B-B14F-4D97-AF65-F5344CB8AC3E}">
        <p14:creationId xmlns:p14="http://schemas.microsoft.com/office/powerpoint/2010/main" val="11291040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EBEE05B-03E9-48BE-B4E2-0FA729066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PRODUCT WALKTHROUGH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8A33FC-363C-481C-8A75-E44823965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9334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6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From three preferences to a calmer day.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597A77-3620-4F3D-98C8-88A75F5C9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81200"/>
            <a:ext cx="2819400" cy="409575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0A241F"/>
          </a:solidFill>
          <a:ln xmlns:a="http://schemas.openxmlformats.org/drawingml/2006/main" w="19050">
            <a:solidFill>
              <a:srgbClr val="173F3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3FDFF7-04D6-4F38-8D71-D5F37AAC8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9800"/>
            <a:ext cx="2190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1">
                <a:solidFill>
                  <a:srgbClr val="8DB7AA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B7AA"/>
                </a:solidFill>
                <a:latin typeface="Arial"/>
                <a:ea typeface="Arial"/>
                <a:cs typeface="Arial"/>
              </a:rPr>
              <a:t>SMOOTHGO · CHANGCHUN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4F9C9F-3294-4C42-81D8-9EE8A6DD8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5745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Your calmer day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FEB0D1-8EF2-4898-AE53-E8BEAEC98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895600"/>
            <a:ext cx="224790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23A32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791B80-52FB-42E1-ACDD-3F3D9E56C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009900"/>
            <a:ext cx="1981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48E0B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48E0BB"/>
                </a:solidFill>
                <a:latin typeface="Arial"/>
                <a:ea typeface="Arial"/>
                <a:cs typeface="Arial"/>
              </a:rPr>
              <a:t>1h 20m saved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953FAC-0B74-4C2E-B82A-79F628C82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219450"/>
            <a:ext cx="1981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9FC0B5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9FC0B5"/>
                </a:solidFill>
                <a:latin typeface="Arial"/>
                <a:ea typeface="Arial"/>
                <a:cs typeface="Arial"/>
              </a:rPr>
              <a:t>3 stops · balanced pace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4E58F3-1078-46FD-B868-7C6953ED4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00450"/>
            <a:ext cx="22479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7FBF9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08376A-E16C-4434-AEBA-5FAFC8641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76650"/>
            <a:ext cx="4191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675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09:30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2CB64E-DC57-4128-827E-1B955C7BE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Jingyuetan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1509CC-872D-439C-A77D-9695DCB18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1428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675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18 min queue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BF51C6-1622-437A-827D-A5597248A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210050"/>
            <a:ext cx="22479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7FBF9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259A6B-9D1B-46B8-94DE-AC983145C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286250"/>
            <a:ext cx="4191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675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12:10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695F51-9475-4012-A93F-58C5E1FF0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276725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The Hill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60B327-9094-4575-8011-758E1C014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67225"/>
            <a:ext cx="1428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675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29 min queue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7D9553-2E51-445C-BB2C-0226CC80E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19650"/>
            <a:ext cx="22479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7FBF9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CFE3BB-1BA1-43E6-AA20-D12613D28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95850"/>
            <a:ext cx="4191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675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14:00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A5139F-6A06-4DBB-B4D6-25FB58354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86325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Guilin Road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49F159-2A07-48F1-BFE9-621E51FC8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076825"/>
            <a:ext cx="1428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675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12 min queue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F5F8BE-931C-4D74-A71B-C00246B79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562600"/>
            <a:ext cx="22479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F9D86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262293-639E-4C1D-91AE-3DA47A441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629275"/>
            <a:ext cx="1943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Replan around crowds  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A7A43C-E33C-4CAE-B16E-0EAFE4E40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1526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959F53-362E-437D-900E-0CB7F4E3A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209800"/>
            <a:ext cx="17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0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CCE3BB-EC45-4409-992D-5865C6E34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124075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Choose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E621EC9-1794-4EEE-822B-357BA156A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24075"/>
            <a:ext cx="457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Interests, pace, group and start time.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EF109C7-27A3-4998-9C2D-A4E1CDC6B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8384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E30629C-75FC-49EE-9B95-78E1498BF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895600"/>
            <a:ext cx="17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0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A85F680-4F13-4F70-BC19-CA9EDBE30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809875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Generate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14BE7E7-AEDE-4F27-98F2-A1C83E5D9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09875"/>
            <a:ext cx="457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A time-boxed plan with travel and meals.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3923FF8-1D36-430C-891E-BC4C00AAC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5242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89D2417-F554-49CD-AAC9-799384B09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581400"/>
            <a:ext cx="17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0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BDD7909-CBEE-41E6-A959-08FF042E3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495675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See live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E671BCE-E584-4294-9545-DAFEEA0AD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495675"/>
            <a:ext cx="457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Crowd and queue signals for every stop.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788247B-AB95-4E9C-9B29-EDBE72C11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2100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D86"/>
          </a:solidFill>
          <a:ln xmlns:a="http://schemas.openxmlformats.org/drawingml/2006/main" w="9525">
            <a:solidFill>
              <a:srgbClr val="0F9D8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BA4EE0F-03C5-4B4E-BE64-3F96F5090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267200"/>
            <a:ext cx="17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DA269E7-7A4B-43A7-8F33-8C42E4010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181475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Replan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E0B2FA5-7475-45C3-B8DE-45891B4B9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181475"/>
            <a:ext cx="457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One tap swaps the crowded stop.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4C72551-DA50-4265-9162-FD1918337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8958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61A9CED-5DC2-4318-8E1A-634C68711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953000"/>
            <a:ext cx="17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0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6067866-8977-4C2B-84A7-BA44513FA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867275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Optional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C4CB104-CC21-4211-A59B-43B02B717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867275"/>
            <a:ext cx="457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Request verified queue assistance.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12B4FE1-4DE5-4009-82D9-C13D5CB08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63880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DF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4632715-7CE2-41E3-9EA5-EFB423369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79120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Live prototype · 574 places · illustrative data · no bookings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849DC40-BB06-48B0-96D4-B03449197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DF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61C629D-84C4-4730-9608-1A9BDBD42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103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SmoothGo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7426DB9-CC1A-408C-B513-E1C59DD5B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610350"/>
            <a:ext cx="1123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05 / 14</a:t>
            </a:r>
          </a:p>
        </p:txBody>
      </p:sp>
    </p:spTree>
    <p:extLst>
      <p:ext uri="{BB962C8B-B14F-4D97-AF65-F5344CB8AC3E}">
        <p14:creationId xmlns:p14="http://schemas.microsoft.com/office/powerpoint/2010/main" val="85042121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6168B2D-A9BE-425F-A718-99E0743F5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HOW IT WORKS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1E9335-811B-400E-9C2D-86D8D7E79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9334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6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A transparent score, not a black box.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04CAA2-78ED-47B0-ABA9-658C914A6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59055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5F7F1"/>
          </a:solidFill>
          <a:ln xmlns:a="http://schemas.openxmlformats.org/drawingml/2006/main" w="9525">
            <a:solidFill>
              <a:srgbClr val="BFE9D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14B41D-E45C-4973-9919-04266A0AE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622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D39A45-2DF8-4D62-8A19-2A6922208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3431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Interest match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53DB62-BA49-48F5-92F6-4BF6554F9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6289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Does this place fit what you came for?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573CEF-0745-4777-9C49-BF2DF19B3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59055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B67376-51DC-4C43-9A83-812A8E2CE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004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1C7573-96B5-406F-B483-92DEA27B3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1813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Crowd pressure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10BB0C-65AE-41AF-81DB-D98394748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4671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How busy is it right now?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516DA9-FA66-46AC-AECA-001448737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59055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AA8E0C-3EE8-402A-A78B-E9870C76A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386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76DF10-F174-4D88-B14B-CAAEAE7D6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195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Queue time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C48E1B-B309-476C-B03A-5900498CA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3053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A range, with a stated confidence.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08C50A-1BC5-4450-BE14-77CAF2856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59055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34172C-0026-4E2C-A433-21DAB7118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768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E39092-D55A-4904-ACD2-6F59E029F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8577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Travel + time fit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E84A13-C887-44A1-B4AF-8D7349087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1435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Can you still finish the day calmly?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A5DF7E-E0DD-4634-8D25-069B35363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247900"/>
            <a:ext cx="36195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5F7F1"/>
          </a:solidFill>
          <a:ln xmlns:a="http://schemas.openxmlformats.org/drawingml/2006/main" w="9525">
            <a:solidFill>
              <a:srgbClr val="BFE9D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AEB6D4-00F6-4B83-9054-160A0A275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3812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LIVE DATA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B6FA38-409B-4957-83EF-E9C9F9B0E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6098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Venue signals + opt-in reports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CC091E-05B2-42C0-A5B9-660417914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289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8A82242-BB6A-4290-9DEF-CFD723315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276600"/>
            <a:ext cx="36195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8A309B4-2777-4E85-8C34-4B230A8EE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4099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BE5BD6D-73D1-4D18-8B77-38B719828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6385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Explainable next-stop ranking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0487EC-0E7B-4CE5-98D3-7F3A484D7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0576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7E7B862-4901-4FA0-9D6F-749D0F33A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305300"/>
            <a:ext cx="36195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C237518-C62E-4C40-BEF5-51AC7A781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4386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PLAN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4EF2E1E-C435-4EA7-8022-71DFAC699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6672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Time-boxed route + reasons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19A41A2-DEC8-4CB1-9CD6-159D50100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10267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DF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492B7B5-9F2B-4798-93A5-0BC85D194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267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Prototype: rule-based scoring with illustrative data.   Production: live APIs + learned crowd forecasting.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8FE906D-B69D-454A-A9AC-44784EC48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DF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9B66F84-9A7C-4CD4-A8D3-A800C980B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103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SmoothGo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B4E3ED0-023F-492D-B709-E2D1A96BE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610350"/>
            <a:ext cx="1123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06 / 14</a:t>
            </a:r>
          </a:p>
        </p:txBody>
      </p:sp>
    </p:spTree>
    <p:extLst>
      <p:ext uri="{BB962C8B-B14F-4D97-AF65-F5344CB8AC3E}">
        <p14:creationId xmlns:p14="http://schemas.microsoft.com/office/powerpoint/2010/main" val="127544869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F38D38-4323-4F66-84CF-43C8F48D0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MARKET AND COMPETITION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23F66A-F39D-4A4B-AF26-0A8C56152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98107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3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Discovery is crowded. Decision support is not.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85800" y="2152650"/>
          <a:ext xmlns:a="http://schemas.openxmlformats.org/drawingml/2006/main" cx="10820400" cy="3124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1250"/>
                <a:gridCol w="2857500"/>
                <a:gridCol w="5581650"/>
              </a:tblGrid>
              <a:tr h="514350">
                <a:tc>
                  <a:txBody>
                    <a:bodyPr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Platform type</a:t>
                      </a:r>
                    </a:p>
                  </a:txBody>
                  <a:tcPr marL="91440" marR="91440" marT="45720" marB="45720">
                    <a:solidFill>
                      <a:srgbClr val="0A241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What it does well</a:t>
                      </a:r>
                    </a:p>
                  </a:txBody>
                  <a:tcPr marL="91440" marR="91440" marT="45720" marB="45720">
                    <a:solidFill>
                      <a:srgbClr val="0A241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What it leaves open</a:t>
                      </a:r>
                    </a:p>
                  </a:txBody>
                  <a:tcPr marL="91440" marR="91440" marT="45720" marB="45720">
                    <a:solidFill>
                      <a:srgbClr val="0A241F"/>
                    </a:solidFill>
                  </a:tcPr>
                </a:tc>
              </a:tr>
              <a:tr h="647700">
                <a:tc>
                  <a:txBody>
                    <a:bodyPr anchor="ctr"/>
                    <a:lstStyle/>
                    <a:p>
                      <a:pPr algn="l"/>
                      <a:r>
                        <a:rPr sz="1275" b="0">
                          <a:solidFill>
                            <a:srgbClr val="0B1F1A"/>
                          </a:solidFill>
                          <a:latin typeface="Arial"/>
                          <a:ea typeface="Arial"/>
                          <a:cs typeface="Arial"/>
                        </a:rPr>
                        <a:t>Trip.com / Ctrip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/>
                      <a:r>
                        <a:rPr sz="1275" b="0">
                          <a:solidFill>
                            <a:srgbClr val="294039"/>
                          </a:solidFill>
                          <a:latin typeface="Arial"/>
                          <a:ea typeface="Arial"/>
                          <a:cs typeface="Arial"/>
                        </a:rPr>
                        <a:t>Booking and discovery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/>
                      <a:r>
                        <a:rPr sz="1275" b="0">
                          <a:solidFill>
                            <a:srgbClr val="294039"/>
                          </a:solidFill>
                          <a:latin typeface="Arial"/>
                          <a:ea typeface="Arial"/>
                          <a:cs typeface="Arial"/>
                        </a:rPr>
                        <a:t>Little dynamic replanning around queues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 anchor="ctr"/>
                    <a:lstStyle/>
                    <a:p>
                      <a:pPr algn="l"/>
                      <a:r>
                        <a:rPr sz="1275" b="0">
                          <a:solidFill>
                            <a:srgbClr val="0B1F1A"/>
                          </a:solidFill>
                          <a:latin typeface="Arial"/>
                          <a:ea typeface="Arial"/>
                          <a:cs typeface="Arial"/>
                        </a:rPr>
                        <a:t>Meituan / Dianping</a:t>
                      </a:r>
                    </a:p>
                  </a:txBody>
                  <a:tcPr marL="91440" marR="91440" marT="45720" marB="45720">
                    <a:solidFill>
                      <a:srgbClr val="FAFC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/>
                      <a:r>
                        <a:rPr sz="1275" b="0">
                          <a:solidFill>
                            <a:srgbClr val="294039"/>
                          </a:solidFill>
                          <a:latin typeface="Arial"/>
                          <a:ea typeface="Arial"/>
                          <a:cs typeface="Arial"/>
                        </a:rPr>
                        <a:t>Local food and reviews</a:t>
                      </a:r>
                    </a:p>
                  </a:txBody>
                  <a:tcPr marL="91440" marR="91440" marT="45720" marB="45720">
                    <a:solidFill>
                      <a:srgbClr val="FAFC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/>
                      <a:r>
                        <a:rPr sz="1275" b="0">
                          <a:solidFill>
                            <a:srgbClr val="294039"/>
                          </a:solidFill>
                          <a:latin typeface="Arial"/>
                          <a:ea typeface="Arial"/>
                          <a:cs typeface="Arial"/>
                        </a:rPr>
                        <a:t>Fragmented across venues; not a full-day plan</a:t>
                      </a:r>
                    </a:p>
                  </a:txBody>
                  <a:tcPr marL="91440" marR="91440" marT="45720" marB="45720">
                    <a:solidFill>
                      <a:srgbClr val="FAFCFA"/>
                    </a:solidFill>
                  </a:tcPr>
                </a:tc>
              </a:tr>
              <a:tr h="647700">
                <a:tc>
                  <a:txBody>
                    <a:bodyPr anchor="ctr"/>
                    <a:lstStyle/>
                    <a:p>
                      <a:pPr algn="l"/>
                      <a:r>
                        <a:rPr sz="1275" b="0">
                          <a:solidFill>
                            <a:srgbClr val="0B1F1A"/>
                          </a:solidFill>
                          <a:latin typeface="Arial"/>
                          <a:ea typeface="Arial"/>
                          <a:cs typeface="Arial"/>
                        </a:rPr>
                        <a:t>Travel content apps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/>
                      <a:r>
                        <a:rPr sz="1275" b="0">
                          <a:solidFill>
                            <a:srgbClr val="294039"/>
                          </a:solidFill>
                          <a:latin typeface="Arial"/>
                          <a:ea typeface="Arial"/>
                          <a:cs typeface="Arial"/>
                        </a:rPr>
                        <a:t>Inspiration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/>
                      <a:r>
                        <a:rPr sz="1275" b="0">
                          <a:solidFill>
                            <a:srgbClr val="294039"/>
                          </a:solidFill>
                          <a:latin typeface="Arial"/>
                          <a:ea typeface="Arial"/>
                          <a:cs typeface="Arial"/>
                        </a:rPr>
                        <a:t>No live operational decision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 anchor="ctr"/>
                    <a:lstStyle/>
                    <a:p>
                      <a:pPr algn="l"/>
                      <a:r>
                        <a:rPr sz="1275" b="0">
                          <a:solidFill>
                            <a:srgbClr val="0B1F1A"/>
                          </a:solidFill>
                          <a:latin typeface="Arial"/>
                          <a:ea typeface="Arial"/>
                          <a:cs typeface="Arial"/>
                        </a:rPr>
                        <a:t>Single-venue queue tools</a:t>
                      </a:r>
                    </a:p>
                  </a:txBody>
                  <a:tcPr marL="91440" marR="91440" marT="45720" marB="45720">
                    <a:solidFill>
                      <a:srgbClr val="FAFC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/>
                      <a:r>
                        <a:rPr sz="1275" b="0">
                          <a:solidFill>
                            <a:srgbClr val="294039"/>
                          </a:solidFill>
                          <a:latin typeface="Arial"/>
                          <a:ea typeface="Arial"/>
                          <a:cs typeface="Arial"/>
                        </a:rPr>
                        <a:t>One waiting list</a:t>
                      </a:r>
                    </a:p>
                  </a:txBody>
                  <a:tcPr marL="91440" marR="91440" marT="45720" marB="45720">
                    <a:solidFill>
                      <a:srgbClr val="FAFC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/>
                      <a:r>
                        <a:rPr sz="1275" b="0">
                          <a:solidFill>
                            <a:srgbClr val="294039"/>
                          </a:solidFill>
                          <a:latin typeface="Arial"/>
                          <a:ea typeface="Arial"/>
                          <a:cs typeface="Arial"/>
                        </a:rPr>
                        <a:t>No personalised, cross-venue itinerary</a:t>
                      </a:r>
                    </a:p>
                  </a:txBody>
                  <a:tcPr marL="91440" marR="91440" marT="45720" marB="45720">
                    <a:solidFill>
                      <a:srgbClr val="FAFCFA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DB834B-036D-42B0-886C-5DB2C09F2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05450"/>
            <a:ext cx="108204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0A24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57B368-C0FC-43A6-A3E3-9F5D73DC6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48325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gap: who tells you what to do next?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250E46-9D4A-4605-BFB7-3D855CAD5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686425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125" b="1">
                <a:solidFill>
                  <a:srgbClr val="48E0BB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48E0BB"/>
                </a:solidFill>
                <a:latin typeface="Arial"/>
                <a:ea typeface="Arial"/>
                <a:cs typeface="Arial"/>
              </a:rPr>
              <a:t>SmoothGo: cross-venue, queue-aware, dynamic.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D99B85-1E07-44DB-8174-AD888BC77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B04066-2B5C-4648-A3EC-008F9110C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103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SmoothGo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4EA320-1197-4C3E-8A27-77BFBA6E2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610350"/>
            <a:ext cx="1123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07 / 14</a:t>
            </a:r>
          </a:p>
        </p:txBody>
      </p:sp>
    </p:spTree>
    <p:extLst>
      <p:ext uri="{BB962C8B-B14F-4D97-AF65-F5344CB8AC3E}">
        <p14:creationId xmlns:p14="http://schemas.microsoft.com/office/powerpoint/2010/main" val="86333122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2B5FC2-04F6-4542-B152-302F72824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BUSINESS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FB48E6-EF60-4B08-BBDE-A503E01ED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15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We earn when we save time, not when we add clutter.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2A03E4-F00A-4004-B15A-A76EB5AEC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3314700" cy="2286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5F7F1"/>
          </a:solidFill>
          <a:ln xmlns:a="http://schemas.openxmlformats.org/drawingml/2006/main" w="9525">
            <a:solidFill>
              <a:srgbClr val="E2ECE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F8B51D-8C59-470F-B4DD-A76BEAAE8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2762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15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15–20%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5259B1-5E1A-415C-A192-085D81064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051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Queue-assist commission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EC43CF-B82E-4931-BF8A-E38D7B7BC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86150"/>
            <a:ext cx="2724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A share of each completed request.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08E3DB-7501-4D9E-8FAE-510E3DB04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133600"/>
            <a:ext cx="3314700" cy="2286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7E4"/>
          </a:solidFill>
          <a:ln xmlns:a="http://schemas.openxmlformats.org/drawingml/2006/main" w="9525">
            <a:solidFill>
              <a:srgbClr val="E2ECE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2B1F5F-2A04-41CE-BE77-12688A0ED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00300"/>
            <a:ext cx="2762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150" b="1">
                <a:solidFill>
                  <a:srgbClr val="F3B6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3B63F"/>
                </a:solidFill>
                <a:latin typeface="Arial"/>
                <a:ea typeface="Arial"/>
                <a:cs typeface="Arial"/>
              </a:rPr>
              <a:t>¥500+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5AAD86-94E5-49D9-A485-AF9CC43C2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1051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Merchant promotion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4166E8-BBE4-43B7-A3D5-8DE076987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486150"/>
            <a:ext cx="2724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Priority placement for partner venues.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9712EA-E620-4869-BC10-0981C9F01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133600"/>
            <a:ext cx="3314700" cy="2286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A"/>
          </a:solidFill>
          <a:ln xmlns:a="http://schemas.openxmlformats.org/drawingml/2006/main" w="9525">
            <a:solidFill>
              <a:srgbClr val="E2ECE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8FE5F5-E886-4DCF-9255-B983CA156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00300"/>
            <a:ext cx="2762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150" b="1">
                <a:solidFill>
                  <a:srgbClr val="FF6B4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6B4A"/>
                </a:solidFill>
                <a:latin typeface="Arial"/>
                <a:ea typeface="Arial"/>
                <a:cs typeface="Arial"/>
              </a:rPr>
              <a:t>¥9.9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15057A-81A8-4A48-A3A4-9731893F6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051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Premium subscription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22D54C-650E-4C7C-9521-8902D3E09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486150"/>
            <a:ext cx="2724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Advanced forecasts and multi-day plans.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DF79B2-F028-44C5-A7CE-35710616A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10820400" cy="914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D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F2BFF9-FC50-4E1D-B23C-15175ED2B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2920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PRICING EXAMPLE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A19258-1C3D-4714-ACD5-A8D794DC8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7685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30 min ¥10  ·  60 min ¥18  ·  90 min ¥26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3EF40A-CBA3-41A7-9A43-90CAD924D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2768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1275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Launch offer: first request free; off-peak discounts.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06503F-5FC0-4D6F-A191-E51B9F702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1E7B54-FBC3-47BA-8BE7-054974EA9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103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SmoothGo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CACD66-9AC1-4000-BDD3-3F045A550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610350"/>
            <a:ext cx="1123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08 / 14</a:t>
            </a:r>
          </a:p>
        </p:txBody>
      </p:sp>
    </p:spTree>
    <p:extLst>
      <p:ext uri="{BB962C8B-B14F-4D97-AF65-F5344CB8AC3E}">
        <p14:creationId xmlns:p14="http://schemas.microsoft.com/office/powerpoint/2010/main" val="75875498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588AE2E-9D0D-4072-A6C5-73DBC620D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OPERATIONS AND PREMISES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FC8B97-7141-4834-813E-0202CE12A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9334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6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Light asset, local first.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C739A6-D9B9-46FD-8D97-12D51DCE9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5295900" cy="1314450"/>
          </a:xfrm>
          <a:prstGeom xmlns:a="http://schemas.openxmlformats.org/drawingml/2006/main" prst="roundRect">
            <a:avLst>
              <a:gd name="adj" fmla="val 115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D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E1A228-256D-4272-BC1A-5F6C6347D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003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D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E705EF-3038-43C9-B78A-3BABAF6D1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765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32347E-90B2-4CA5-8DF1-65AF828B0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812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Premises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59C4BF-5B5B-43CA-976C-06220AD3B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743200"/>
            <a:ext cx="419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University incubator or co-working space. No physical stores.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9DB9F6-D659-4874-9F8E-90C279B45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52650"/>
            <a:ext cx="5295900" cy="1314450"/>
          </a:xfrm>
          <a:prstGeom xmlns:a="http://schemas.openxmlformats.org/drawingml/2006/main" prst="roundRect">
            <a:avLst>
              <a:gd name="adj" fmla="val 115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D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391409-F5D9-4C60-942C-6E19A80E7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4003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B6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7417B7-E6AD-44BB-A226-97F953330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4765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1562D1-D0FF-4B20-B413-337E8399C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812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Data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8C2AA6-DE0D-4094-AE4B-8EEF5651E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743200"/>
            <a:ext cx="419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Venue partnerships, public tourism data and opt-in user reports.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FFF05C-4D8A-461B-BF8B-FBEFF22EA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5295900" cy="1314450"/>
          </a:xfrm>
          <a:prstGeom xmlns:a="http://schemas.openxmlformats.org/drawingml/2006/main" prst="roundRect">
            <a:avLst>
              <a:gd name="adj" fmla="val 115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D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F4DD0B-9DEF-49C6-BEC8-0877C0918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981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29DB53-02A6-4878-A2E0-3553385B7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5765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76871B-2513-4E90-B5B5-D60F0E00A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9624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Supply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9A9D8A-091D-48EF-A6E8-D2D5D0E38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24350"/>
            <a:ext cx="419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Vetted part-time queue assistants with ratings and deposits.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CD2B78-FF13-402A-BFF3-2E0C8FADB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733800"/>
            <a:ext cx="5295900" cy="1314450"/>
          </a:xfrm>
          <a:prstGeom xmlns:a="http://schemas.openxmlformats.org/drawingml/2006/main" prst="roundRect">
            <a:avLst>
              <a:gd name="adj" fmla="val 115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D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EA69C0-1A13-4204-8C92-28E8FB130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981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D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7EFA1A-D83B-42D2-9B48-1EE30828F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05765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5E8AB0-A7C0-494D-A80B-B5C94662F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9624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Handoff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D1526F-68B8-4008-98F3-CF1835AC6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324350"/>
            <a:ext cx="419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QR confirmation at the venue; platform settles automatically.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CA5869-9819-4D38-B5EB-AD037681F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108204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0A24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DE3144-F027-4A85-9F8D-DCD42A74C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10225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No stores. No fleet. No ticket inventory.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80DC7D-3FE6-4DD0-9087-9053F4678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65785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1">
                <a:solidFill>
                  <a:srgbClr val="48E0B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48E0BB"/>
                </a:solidFill>
                <a:latin typeface="Arial"/>
                <a:ea typeface="Arial"/>
                <a:cs typeface="Arial"/>
              </a:rPr>
              <a:t>Compliance stays in the design.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136167-3764-4E20-A1E1-C611CF4B4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0080D3F-BED8-4BDE-AF6B-44D4E3979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103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SmoothGo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E98D4D9-87DE-45C6-94B5-98CA0B9B5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610350"/>
            <a:ext cx="1123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09 / 14</a:t>
            </a:r>
          </a:p>
        </p:txBody>
      </p:sp>
    </p:spTree>
    <p:extLst>
      <p:ext uri="{BB962C8B-B14F-4D97-AF65-F5344CB8AC3E}">
        <p14:creationId xmlns:p14="http://schemas.microsoft.com/office/powerpoint/2010/main" val="173427736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056FFBF-4613-474D-9F30-781F007A0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MARKETING AND ROADMAP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E56510-27EB-4F56-B56E-04CC749FB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9334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6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Start where the queue is visible.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12E01C-9AEC-4C69-AC28-DDD48280A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9B8606-60F2-47DB-B73C-F224AD147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86000"/>
            <a:ext cx="1143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12E255-3925-4727-841C-7C2C41B96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526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Short video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D1B364-D9E7-4684-8F57-BDB22A159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15265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“How long is the queue at ___ right now?”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F0652F-C893-4B45-B88C-B3951D59E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B6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781230-40DE-4D42-A400-A2BE1377F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9900"/>
            <a:ext cx="1143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E51B00-9486-4D53-A61D-39F4C1662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765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QR at venues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2A9010-F79A-4398-ACCA-93705E287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87655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A useful tool at the exact moment of need.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9AA4A7-5ADC-44A5-8356-268AC1899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766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D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17356E-C025-42F6-9630-2E13A4492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33800"/>
            <a:ext cx="1143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32D6FF-CD18-447D-802D-54FD1C9BD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004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Travel partners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461435-94BC-4A26-904F-AF40947A4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60045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An add-on for independent travellers.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9F2CA3-B967-44D5-8200-B553B893D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D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238199-C52E-4BF2-A905-896C1D746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57700"/>
            <a:ext cx="1143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3BB9A2-6088-4BC8-AE36-AB2FCA198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243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Campus ambassadors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9594ED-8D04-46BC-8215-D63CA5C1F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32435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Local trust and a low-cost first user base.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D0A0E6-B86F-474A-AC68-5CEF79AEF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152650"/>
            <a:ext cx="4457700" cy="323850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0A24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0EA581-B12C-43A2-BC05-A9BC9DCA7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400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8DB7AA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DB7AA"/>
                </a:solidFill>
                <a:latin typeface="Arial"/>
                <a:ea typeface="Arial"/>
                <a:cs typeface="Arial"/>
              </a:rPr>
              <a:t>8-WEEK PILOT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817FED-7FF7-4DC0-8F0F-8A1A6C379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724150"/>
            <a:ext cx="381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10 venues · 1,000 users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5D3380-B1CB-4348-8AE5-AAB30B7A5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3718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8DB7AA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DB7AA"/>
                </a:solidFill>
                <a:latin typeface="Arial"/>
                <a:ea typeface="Arial"/>
                <a:cs typeface="Arial"/>
              </a:rPr>
              <a:t>ROADMAP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A8D06E-0828-48DD-BF5D-8D0F7836F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7433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E0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E4E4DE-87A1-481B-821C-B9594FF6A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6957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Changchun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EC40DE-023B-47AD-B70B-98EE9CB2A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086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D8F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022B711-26C6-4EF5-A247-146909E63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0386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B7D1C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7D1C7"/>
                </a:solidFill>
                <a:latin typeface="Arial"/>
                <a:ea typeface="Arial"/>
                <a:cs typeface="Arial"/>
              </a:rPr>
              <a:t>Xi’an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D8CDD5F-E816-4B11-A6D6-9C72E71ED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429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D8F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E9519C1-CBEF-46C3-A749-22E684007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3815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B7D1C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7D1C7"/>
                </a:solidFill>
                <a:latin typeface="Arial"/>
                <a:ea typeface="Arial"/>
                <a:cs typeface="Arial"/>
              </a:rPr>
              <a:t>Chongqing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07304A8-C9BC-4A84-85D3-3AC27AEC5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772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D8F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90E8C99-57C8-4235-B4B1-3BE251634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7244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B7D1C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7D1C7"/>
                </a:solidFill>
                <a:latin typeface="Arial"/>
                <a:ea typeface="Arial"/>
                <a:cs typeface="Arial"/>
              </a:rPr>
              <a:t>Changsha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B483750-7F2B-4AC8-B5E6-B4BF5BD0B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029200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8DB7A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8DB7AA"/>
                </a:solidFill>
                <a:latin typeface="Arial"/>
                <a:ea typeface="Arial"/>
                <a:cs typeface="Arial"/>
              </a:rPr>
              <a:t>Prove one city before scaling.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B2A4BE7-5A39-4E0D-9618-5BE8242C6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5706084-51C2-4717-A7E5-AFD78FD66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103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SmoothGo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B267890-8398-4EB0-ADCF-602ED0889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610350"/>
            <a:ext cx="1123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10 / 14</a:t>
            </a:r>
          </a:p>
        </p:txBody>
      </p:sp>
    </p:spTree>
    <p:extLst>
      <p:ext uri="{BB962C8B-B14F-4D97-AF65-F5344CB8AC3E}">
        <p14:creationId xmlns:p14="http://schemas.microsoft.com/office/powerpoint/2010/main" val="174681862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81B9E3-4D06-4E8C-99A3-FBD89AB52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FUNDING AND P&amp;L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011D2D-CA7B-4F68-8732-19A06E5A4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99060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3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A lean pilot with a clear path to break-even.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7207AC-6971-4885-BDE5-F5353F3D2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39052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5F7F1"/>
          </a:solidFill>
          <a:ln xmlns:a="http://schemas.openxmlformats.org/drawingml/2006/main" w="9525">
            <a:solidFill>
              <a:srgbClr val="BFE9D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F7B0BD-6FCC-4AB6-AD1A-95AFDF7C5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050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Start-up budget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D03EEA-72C7-4BB6-AEB4-919ACC8FB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0507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¥80,000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848526-207C-46D3-9416-E2CD1AC98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14650"/>
            <a:ext cx="39052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D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E1F086-4711-4BD8-89C2-9300AD69C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099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Funding sources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230E9F-02E8-4C37-B359-EE8189F21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099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Team + university fund + local angel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07202F-9B48-4574-977B-361CB72E3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39052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D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C99A89-13FB-4541-AFD4-0F3ACDBDD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147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Main costs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A0CF5D-E901-4D8D-A6D9-F3654DF40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1477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Development, APIs, marketing and ops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66CA25-2566-4C77-99B0-E29210AB8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24350"/>
            <a:ext cx="39052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D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49B3E5-34B8-4AB3-8DD4-83F07B961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196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Break-even target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61F40C-05DA-4294-A627-77E6A965C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19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Month 9 after launch</a:t>
            </a:r>
          </a:p>
        </p:txBody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010150" y="2133600"/>
          <a:ext xmlns:a="http://schemas.openxmlformats.org/drawingml/2006/main" cx="64960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01dc98dd9a8488f"/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B653A0-08A6-4156-9E7E-28B3FBE9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5181600"/>
            <a:ext cx="649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Illustrative monthly economics (¥000)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0D8274-D7AF-4A24-9E1E-B012B5508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5467350"/>
            <a:ext cx="6496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Assumptions, not actual results. Verify the model before presenting.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0B062F-154A-469D-B9F7-A8ABE507A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6EFC5B-7019-4ED7-859A-A2F1D66A1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103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SmoothGo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7E2B6B-8EE1-4A32-8E2E-030CC9358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610350"/>
            <a:ext cx="1123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11 / 14</a:t>
            </a:r>
          </a:p>
        </p:txBody>
      </p:sp>
    </p:spTree>
    <p:extLst>
      <p:ext uri="{BB962C8B-B14F-4D97-AF65-F5344CB8AC3E}">
        <p14:creationId xmlns:p14="http://schemas.microsoft.com/office/powerpoint/2010/main" val="30107218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44A9C5-A769-4F8F-9C1B-A9F235D53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CHALLENGES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DB91D8-58DC-48A5-A2DA-AF785AECE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9334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6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The hard part is trust, not code.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85800" y="2152650"/>
          <a:ext xmlns:a="http://schemas.openxmlformats.org/drawingml/2006/main" cx="1082040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95750"/>
                <a:gridCol w="6724650"/>
              </a:tblGrid>
              <a:tr h="476250">
                <a:tc>
                  <a:txBody>
                    <a:bodyPr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Challenge</a:t>
                      </a:r>
                    </a:p>
                  </a:txBody>
                  <a:tcPr marL="91440" marR="91440" marT="45720" marB="45720">
                    <a:solidFill>
                      <a:srgbClr val="0A241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Mitigation</a:t>
                      </a:r>
                    </a:p>
                  </a:txBody>
                  <a:tcPr marL="91440" marR="91440" marT="45720" marB="45720">
                    <a:solidFill>
                      <a:srgbClr val="0A241F"/>
                    </a:solidFill>
                  </a:tcPr>
                </a:tc>
              </a:tr>
              <a:tr h="590550">
                <a:tc>
                  <a:txBody>
                    <a:bodyPr anchor="ctr"/>
                    <a:lstStyle/>
                    <a:p>
                      <a:pPr algn="l"/>
                      <a:r>
                        <a:rPr sz="1275" b="0">
                          <a:solidFill>
                            <a:srgbClr val="0B1F1A"/>
                          </a:solidFill>
                          <a:latin typeface="Arial"/>
                          <a:ea typeface="Arial"/>
                          <a:cs typeface="Arial"/>
                        </a:rPr>
                        <a:t>Crowd data is inaccurate at first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/>
                      <a:r>
                        <a:rPr sz="1275" b="0">
                          <a:solidFill>
                            <a:srgbClr val="294039"/>
                          </a:solidFill>
                          <a:latin typeface="Arial"/>
                          <a:ea typeface="Arial"/>
                          <a:cs typeface="Arial"/>
                        </a:rPr>
                        <a:t>Start with user reports and visible queue estimates; partner with venues.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 anchor="ctr"/>
                    <a:lstStyle/>
                    <a:p>
                      <a:pPr algn="l"/>
                      <a:r>
                        <a:rPr sz="1275" b="0">
                          <a:solidFill>
                            <a:srgbClr val="0B1F1A"/>
                          </a:solidFill>
                          <a:latin typeface="Arial"/>
                          <a:ea typeface="Arial"/>
                          <a:cs typeface="Arial"/>
                        </a:rPr>
                        <a:t>Paid queueing may be seen as unfair</a:t>
                      </a:r>
                    </a:p>
                  </a:txBody>
                  <a:tcPr marL="91440" marR="91440" marT="45720" marB="45720">
                    <a:solidFill>
                      <a:srgbClr val="FAFC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/>
                      <a:r>
                        <a:rPr sz="1275" b="0">
                          <a:solidFill>
                            <a:srgbClr val="294039"/>
                          </a:solidFill>
                          <a:latin typeface="Arial"/>
                          <a:ea typeface="Arial"/>
                          <a:cs typeface="Arial"/>
                        </a:rPr>
                        <a:t>Prioritise restaurants and non-strict queues; information-only in scenic areas.</a:t>
                      </a:r>
                    </a:p>
                  </a:txBody>
                  <a:tcPr marL="91440" marR="91440" marT="45720" marB="45720">
                    <a:solidFill>
                      <a:srgbClr val="FAFCFA"/>
                    </a:solidFill>
                  </a:tcPr>
                </a:tc>
              </a:tr>
              <a:tr h="590550">
                <a:tc>
                  <a:txBody>
                    <a:bodyPr anchor="ctr"/>
                    <a:lstStyle/>
                    <a:p>
                      <a:pPr algn="l"/>
                      <a:r>
                        <a:rPr sz="1275" b="0">
                          <a:solidFill>
                            <a:srgbClr val="0B1F1A"/>
                          </a:solidFill>
                          <a:latin typeface="Arial"/>
                          <a:ea typeface="Arial"/>
                          <a:cs typeface="Arial"/>
                        </a:rPr>
                        <a:t>Assistants may fail or behave poorly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/>
                      <a:r>
                        <a:rPr sz="1275" b="0">
                          <a:solidFill>
                            <a:srgbClr val="294039"/>
                          </a:solidFill>
                          <a:latin typeface="Arial"/>
                          <a:ea typeface="Arial"/>
                          <a:cs typeface="Arial"/>
                        </a:rPr>
                        <a:t>ID verification, ratings, deposits and clear handoff rules.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 anchor="ctr"/>
                    <a:lstStyle/>
                    <a:p>
                      <a:pPr algn="l"/>
                      <a:r>
                        <a:rPr sz="1275" b="0">
                          <a:solidFill>
                            <a:srgbClr val="0B1F1A"/>
                          </a:solidFill>
                          <a:latin typeface="Arial"/>
                          <a:ea typeface="Arial"/>
                          <a:cs typeface="Arial"/>
                        </a:rPr>
                        <a:t>Demand is seasonal</a:t>
                      </a:r>
                    </a:p>
                  </a:txBody>
                  <a:tcPr marL="91440" marR="91440" marT="45720" marB="45720">
                    <a:solidFill>
                      <a:srgbClr val="FAFC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/>
                      <a:r>
                        <a:rPr sz="1275" b="0">
                          <a:solidFill>
                            <a:srgbClr val="294039"/>
                          </a:solidFill>
                          <a:latin typeface="Arial"/>
                          <a:ea typeface="Arial"/>
                          <a:cs typeface="Arial"/>
                        </a:rPr>
                        <a:t>Add local-life use cases and off-peak promotions.</a:t>
                      </a:r>
                    </a:p>
                  </a:txBody>
                  <a:tcPr marL="91440" marR="91440" marT="45720" marB="45720">
                    <a:solidFill>
                      <a:srgbClr val="FAFCFA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DF2AE9-28DB-45F7-99E1-A8C28A0D6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108204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A24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1CAA20-3B0E-45C9-B720-80713073E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86400"/>
            <a:ext cx="666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start with information, not priority access.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19E5A1-70BF-4F28-8907-27D9F5333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562600"/>
            <a:ext cx="3619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125" b="1">
                <a:solidFill>
                  <a:srgbClr val="48E0BB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48E0BB"/>
                </a:solidFill>
                <a:latin typeface="Arial"/>
                <a:ea typeface="Arial"/>
                <a:cs typeface="Arial"/>
              </a:rPr>
              <a:t>Fairness is part of the product.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6CFC94-49F8-4EA4-8AAA-B644675EC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9C8D81-D06F-4F65-B995-C6B707DB7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103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SmoothGo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9F22A0-FFC3-4213-B432-E69718809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610350"/>
            <a:ext cx="1123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12 / 14</a:t>
            </a:r>
          </a:p>
        </p:txBody>
      </p:sp>
    </p:spTree>
    <p:extLst>
      <p:ext uri="{BB962C8B-B14F-4D97-AF65-F5344CB8AC3E}">
        <p14:creationId xmlns:p14="http://schemas.microsoft.com/office/powerpoint/2010/main" val="25218148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A24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8501976-6F37-4894-BCDB-166BF3764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48E0B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48E0BB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491892-BF5E-46BA-8F7F-3C750C235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287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small shift in timing can change a whole day.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8F8B95-6DB6-447D-A44B-ADE015B28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43150"/>
            <a:ext cx="2457450" cy="19812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03A31"/>
          </a:solidFill>
          <a:ln xmlns:a="http://schemas.openxmlformats.org/drawingml/2006/main" w="9525">
            <a:solidFill>
              <a:srgbClr val="1C4A3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10AE77-8081-4942-80CC-F2D04AB10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48E0BB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48E0BB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75C0ED-BE72-4953-B960-D98C5A604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956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Clear pain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190BCD-EEF9-4BAE-91A9-9471A1504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14700"/>
            <a:ext cx="20383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B6D2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6D2C8"/>
                </a:solidFill>
                <a:latin typeface="Arial"/>
                <a:ea typeface="Arial"/>
                <a:cs typeface="Arial"/>
              </a:rPr>
              <a:t>Waiting wastes the traveller’s most limited resource.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FEA555-CCD6-4B3E-B64F-71F3D827E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343150"/>
            <a:ext cx="2457450" cy="19812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03A31"/>
          </a:solidFill>
          <a:ln xmlns:a="http://schemas.openxmlformats.org/drawingml/2006/main" w="9525">
            <a:solidFill>
              <a:srgbClr val="1C4A3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D67BB3-77C2-4FDF-BCE0-ED9B616E4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5717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48E0BB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48E0B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A02047-2F0F-4B96-A853-5BDCB409C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8956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Simple promise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E50E83-CBCE-482F-B893-629F52F36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314700"/>
            <a:ext cx="20383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B6D2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6D2C8"/>
                </a:solidFill>
                <a:latin typeface="Arial"/>
                <a:ea typeface="Arial"/>
                <a:cs typeface="Arial"/>
              </a:rPr>
              <a:t>See more. Stand in line less.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A6D942-C91A-4C14-A417-C2D72D0A4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343150"/>
            <a:ext cx="2457450" cy="19812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03A31"/>
          </a:solidFill>
          <a:ln xmlns:a="http://schemas.openxmlformats.org/drawingml/2006/main" w="9525">
            <a:solidFill>
              <a:srgbClr val="1C4A3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01E1EC-1BF2-4EC4-9329-3F5B82181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5717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48E0BB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48E0B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9426F7-6E19-4868-A6A2-30441D785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8956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Light model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BB38F5-2EB1-44E5-8B45-0953C08F4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314700"/>
            <a:ext cx="20383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B6D2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6D2C8"/>
                </a:solidFill>
                <a:latin typeface="Arial"/>
                <a:ea typeface="Arial"/>
                <a:cs typeface="Arial"/>
              </a:rPr>
              <a:t>Software, partnerships and local assistants.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BAA132-652A-457E-9F1E-D166F22BB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43150"/>
            <a:ext cx="2457450" cy="19812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03A31"/>
          </a:solidFill>
          <a:ln xmlns:a="http://schemas.openxmlformats.org/drawingml/2006/main" w="9525">
            <a:solidFill>
              <a:srgbClr val="1C4A3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47524C-7842-49BA-84DD-19691D97E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5717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48E0BB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48E0B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FB69ED-75A9-4020-A4FC-487FAFD6A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8956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Scalable path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D37069-AADF-4524-AD52-05CE8ACEA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314700"/>
            <a:ext cx="20383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B6D2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6D2C8"/>
                </a:solidFill>
                <a:latin typeface="Arial"/>
                <a:ea typeface="Arial"/>
                <a:cs typeface="Arial"/>
              </a:rPr>
              <a:t>One city, then a repeatable playbook.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2A73D8-286C-4DA0-B3BB-80D754ACC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7524750" cy="9906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3A31"/>
          </a:solidFill>
          <a:ln xmlns:a="http://schemas.openxmlformats.org/drawingml/2006/main" w="9525">
            <a:solidFill>
              <a:srgbClr val="1C4A3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622FF5-422F-48C7-88D2-20030FF1F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720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8DB7AA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DB7AA"/>
                </a:solidFill>
                <a:latin typeface="Arial"/>
                <a:ea typeface="Arial"/>
                <a:cs typeface="Arial"/>
              </a:rPr>
              <a:t>PILOT ASK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C08F4A-C551-4683-A0DF-64CE53F0F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19700"/>
            <a:ext cx="695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10 Changchun venues · 1,000 users · 8 weeks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712D45-F023-4AD8-B49A-CF0148986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95300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3150" b="1">
                <a:solidFill>
                  <a:srgbClr val="48E0BB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48E0BB"/>
                </a:solidFill>
                <a:latin typeface="Arial"/>
                <a:ea typeface="Arial"/>
                <a:cs typeface="Arial"/>
              </a:rPr>
              <a:t>Thank you.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72C53C-14FD-430E-AF0B-3BCC7D5EA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410200"/>
            <a:ext cx="2895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Questions?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9A31C9-250A-4907-940A-E26AC5CE0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1505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83AA9D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3AA9D"/>
                </a:solidFill>
                <a:latin typeface="Arial"/>
                <a:ea typeface="Arial"/>
                <a:cs typeface="Arial"/>
              </a:rPr>
              <a:t>SmoothGo  |  Changchun Normal University × SCU</a:t>
            </a:r>
          </a:p>
        </p:txBody>
      </p:sp>
    </p:spTree>
    <p:extLst>
      <p:ext uri="{BB962C8B-B14F-4D97-AF65-F5344CB8AC3E}">
        <p14:creationId xmlns:p14="http://schemas.microsoft.com/office/powerpoint/2010/main" val="137284162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71B736-E49C-4FB5-AEA6-40B4E5CF2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REFERENCES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09B450-9B32-46A3-8112-9B56232B3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2857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6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References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4E529A-2A9F-483C-A3A4-3A453A328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38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Harvard referencing style · verify each source before submission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B54839-252A-4F7A-9BEF-EDF73C774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2374B9-C144-47E2-9629-E89A1DC0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38350"/>
            <a:ext cx="9810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294039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94039"/>
                </a:solidFill>
                <a:latin typeface="Arial"/>
                <a:ea typeface="Arial"/>
                <a:cs typeface="Arial"/>
              </a:rPr>
              <a:t>Meituan (2024) Annual Report 2023. Available at: https://about.meituan.com/en/investor-relations/financial-information/annual-reports (Accessed: 18 October 2026).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50BE87-CABC-4CB5-80CE-2C64C122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3370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A714C5-E52B-476F-9403-31FDDAFBE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933700"/>
            <a:ext cx="9810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294039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94039"/>
                </a:solidFill>
                <a:latin typeface="Arial"/>
                <a:ea typeface="Arial"/>
                <a:cs typeface="Arial"/>
              </a:rPr>
              <a:t>Trip.com Group (2024) Annual Report 2023. Available at: https://investors.trip.com/financial-information/annual-reports (Accessed: 18 October 2026).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3BCB8E-21B3-4A2B-AECA-A345DE111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C6C7A0-E029-4137-913C-A9E01F3E0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29050"/>
            <a:ext cx="9810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294039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94039"/>
                </a:solidFill>
                <a:latin typeface="Arial"/>
                <a:ea typeface="Arial"/>
                <a:cs typeface="Arial"/>
              </a:rPr>
              <a:t>UN Tourism (2024) International Tourism Highlights, 2024 Edition. Available at: https://www.unwto.org/publication/international-tourism-highlights-2024 (Accessed: 18 October 2026).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BD1ED2-1146-4410-8FA5-45BC632DC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2440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00C0A8-E29B-40FE-80D0-5DFAE6DBF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724400"/>
            <a:ext cx="9810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294039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94039"/>
                </a:solidFill>
                <a:latin typeface="Arial"/>
                <a:ea typeface="Arial"/>
                <a:cs typeface="Arial"/>
              </a:rPr>
              <a:t>World Travel &amp; Tourism Council (2024) Travel &amp; Tourism Economic Impact 2024: China. Available at: https://wttc.org/research/economic-impact (Accessed: 18 October 2026).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49DE30-9CC4-4866-BEE4-5A3CB2574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674502-848D-4B26-8D53-D70FAC8E3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971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050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Image credits: all visuals in this deck are original diagrams or prototype mock-ups created by the team.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D4F9F8-2CDE-4D7E-9888-9A41C70FF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A530F2-1A4A-40D6-8604-60C928686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103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SmoothGo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0DB7C1-775D-4BFC-8A6D-57B565496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610350"/>
            <a:ext cx="1123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14 / 14</a:t>
            </a:r>
          </a:p>
        </p:txBody>
      </p:sp>
    </p:spTree>
    <p:extLst>
      <p:ext uri="{BB962C8B-B14F-4D97-AF65-F5344CB8AC3E}">
        <p14:creationId xmlns:p14="http://schemas.microsoft.com/office/powerpoint/2010/main" val="670125809"/>
      </p:ext>
    </p:extLst>
  </p:cSld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an-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2026-10-18T11:20:59.3220000Z</dcterms:created>
  <dcterms:modified xsi:type="dcterms:W3CDTF">2026-10-18T11:20:59.3230000Z</dcterms:modified>
</coreProperties>
</file>