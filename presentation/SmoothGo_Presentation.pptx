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cadd76e43400d" /><Relationship Type="http://schemas.openxmlformats.org/officeDocument/2006/relationships/extended-properties" Target="/docProps/app.xml" Id="R042b148a761c403e" /><Relationship Type="http://schemas.openxmlformats.org/officeDocument/2006/relationships/officeDocument" Target="/ppt/presentation.xml" Id="R08a84c9a501f47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aa671aecb4df7"/>
  </p:sldMasterIdLst>
  <p:notesMasterIdLst>
    <p:notesMasterId xmlns:r="http://schemas.openxmlformats.org/officeDocument/2006/relationships" r:id="R41daa30f73cc422f"/>
  </p:notesMasterIdLst>
  <p:sldIdLst>
    <p:sldId xmlns:r="http://schemas.openxmlformats.org/officeDocument/2006/relationships" id="256" r:id="Rc390e261551b4cad"/>
    <p:sldId xmlns:r="http://schemas.openxmlformats.org/officeDocument/2006/relationships" id="257" r:id="Ree1242b2f38c46a5"/>
    <p:sldId xmlns:r="http://schemas.openxmlformats.org/officeDocument/2006/relationships" id="258" r:id="Rc7d66a4659684610"/>
    <p:sldId xmlns:r="http://schemas.openxmlformats.org/officeDocument/2006/relationships" id="259" r:id="R64ab7979e5d34d0a"/>
    <p:sldId xmlns:r="http://schemas.openxmlformats.org/officeDocument/2006/relationships" id="260" r:id="R884c917ecbe54394"/>
    <p:sldId xmlns:r="http://schemas.openxmlformats.org/officeDocument/2006/relationships" id="261" r:id="Rb9d53daa4f464d05"/>
    <p:sldId xmlns:r="http://schemas.openxmlformats.org/officeDocument/2006/relationships" id="262" r:id="Rdc32d9d6537942f9"/>
    <p:sldId xmlns:r="http://schemas.openxmlformats.org/officeDocument/2006/relationships" id="263" r:id="R6e605f93e0bc41a8"/>
    <p:sldId xmlns:r="http://schemas.openxmlformats.org/officeDocument/2006/relationships" id="264" r:id="R16f3ef3da3b54773"/>
    <p:sldId xmlns:r="http://schemas.openxmlformats.org/officeDocument/2006/relationships" id="265" r:id="R8750dabc90c740eb"/>
    <p:sldId xmlns:r="http://schemas.openxmlformats.org/officeDocument/2006/relationships" id="266" r:id="Red6d5061e39247b3"/>
    <p:sldId xmlns:r="http://schemas.openxmlformats.org/officeDocument/2006/relationships" id="267" r:id="R0ca4eabb2c2e4f02"/>
    <p:sldId xmlns:r="http://schemas.openxmlformats.org/officeDocument/2006/relationships" id="268" r:id="R334e5c44e1bb4344"/>
    <p:sldId xmlns:r="http://schemas.openxmlformats.org/officeDocument/2006/relationships" id="269" r:id="R8a73108fe74a4a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de56a603c848e8" /><Relationship Type="http://schemas.openxmlformats.org/officeDocument/2006/relationships/slideMaster" Target="/ppt/slideMasters/slideMaster1.xml" Id="R958aa671aecb4df7" /><Relationship Type="http://schemas.openxmlformats.org/officeDocument/2006/relationships/notesMaster" Target="/ppt/notesMasters/notesMaster1.xml" Id="R41daa30f73cc422f" /><Relationship Type="http://schemas.openxmlformats.org/officeDocument/2006/relationships/presProps" Target="/ppt/presProps.xml" Id="R80a8217049074b1c" /><Relationship Type="http://schemas.openxmlformats.org/officeDocument/2006/relationships/tableStyles" Target="/ppt/tableStyles.xml" Id="Rac0b4a1aa5904c2a" /><Relationship Type="http://schemas.openxmlformats.org/officeDocument/2006/relationships/slide" Target="/ppt/slides/slide1.xml" Id="Rc390e261551b4cad" /><Relationship Type="http://schemas.openxmlformats.org/officeDocument/2006/relationships/slide" Target="/ppt/slides/slide2.xml" Id="Ree1242b2f38c46a5" /><Relationship Type="http://schemas.openxmlformats.org/officeDocument/2006/relationships/slide" Target="/ppt/slides/slide3.xml" Id="Rc7d66a4659684610" /><Relationship Type="http://schemas.openxmlformats.org/officeDocument/2006/relationships/slide" Target="/ppt/slides/slide4.xml" Id="R64ab7979e5d34d0a" /><Relationship Type="http://schemas.openxmlformats.org/officeDocument/2006/relationships/slide" Target="/ppt/slides/slide5.xml" Id="R884c917ecbe54394" /><Relationship Type="http://schemas.openxmlformats.org/officeDocument/2006/relationships/slide" Target="/ppt/slides/slide6.xml" Id="Rb9d53daa4f464d05" /><Relationship Type="http://schemas.openxmlformats.org/officeDocument/2006/relationships/slide" Target="/ppt/slides/slide7.xml" Id="Rdc32d9d6537942f9" /><Relationship Type="http://schemas.openxmlformats.org/officeDocument/2006/relationships/slide" Target="/ppt/slides/slide8.xml" Id="R6e605f93e0bc41a8" /><Relationship Type="http://schemas.openxmlformats.org/officeDocument/2006/relationships/slide" Target="/ppt/slides/slide9.xml" Id="R16f3ef3da3b54773" /><Relationship Type="http://schemas.openxmlformats.org/officeDocument/2006/relationships/slide" Target="/ppt/slides/slide10.xml" Id="R8750dabc90c740eb" /><Relationship Type="http://schemas.openxmlformats.org/officeDocument/2006/relationships/slide" Target="/ppt/slides/slide11.xml" Id="Red6d5061e39247b3" /><Relationship Type="http://schemas.openxmlformats.org/officeDocument/2006/relationships/slide" Target="/ppt/slides/slide12.xml" Id="R0ca4eabb2c2e4f02" /><Relationship Type="http://schemas.openxmlformats.org/officeDocument/2006/relationships/slide" Target="/ppt/slides/slide13.xml" Id="R334e5c44e1bb4344" /><Relationship Type="http://schemas.openxmlformats.org/officeDocument/2006/relationships/slide" Target="/ppt/slides/slide14.xml" Id="R8a73108fe74a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d9753940b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88074c4ab42fb" /><Relationship Type="http://schemas.openxmlformats.org/officeDocument/2006/relationships/notesMaster" Target="/ppt/notesMasters/notesMaster1.xml" Id="Ra380133bcd52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db66cb596742e9" /><Relationship Type="http://schemas.openxmlformats.org/officeDocument/2006/relationships/notesMaster" Target="/ppt/notesMasters/notesMaster1.xml" Id="R7b27b1219b5f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1cf5fa7d34c5f" /><Relationship Type="http://schemas.openxmlformats.org/officeDocument/2006/relationships/notesMaster" Target="/ppt/notesMasters/notesMaster1.xml" Id="R9e5d50dc1e1641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77c988d2243a2" /><Relationship Type="http://schemas.openxmlformats.org/officeDocument/2006/relationships/notesMaster" Target="/ppt/notesMasters/notesMaster1.xml" Id="R028231795420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098b6bd5247c4" /><Relationship Type="http://schemas.openxmlformats.org/officeDocument/2006/relationships/notesMaster" Target="/ppt/notesMasters/notesMaster1.xml" Id="Rf633c23f3ef5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fdf88475434f1a" /><Relationship Type="http://schemas.openxmlformats.org/officeDocument/2006/relationships/notesMaster" Target="/ppt/notesMasters/notesMaster1.xml" Id="R5dd8c76bc9484d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289c43523a4e3c" /><Relationship Type="http://schemas.openxmlformats.org/officeDocument/2006/relationships/notesMaster" Target="/ppt/notesMasters/notesMaster1.xml" Id="R436e4b97c21548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d9b279cc74bab" /><Relationship Type="http://schemas.openxmlformats.org/officeDocument/2006/relationships/notesMaster" Target="/ppt/notesMasters/notesMaster1.xml" Id="Rf2f1fec37cd6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9cc7faabaf41d0" /><Relationship Type="http://schemas.openxmlformats.org/officeDocument/2006/relationships/notesMaster" Target="/ppt/notesMasters/notesMaster1.xml" Id="Ra717320e5c854a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745b6f15c42a0" /><Relationship Type="http://schemas.openxmlformats.org/officeDocument/2006/relationships/notesMaster" Target="/ppt/notesMasters/notesMaster1.xml" Id="R4dd08d9634c045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2df0272fdb4cef" /><Relationship Type="http://schemas.openxmlformats.org/officeDocument/2006/relationships/notesMaster" Target="/ppt/notesMasters/notesMaster1.xml" Id="R8812d3d8c10443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2882cfdd0413e" /><Relationship Type="http://schemas.openxmlformats.org/officeDocument/2006/relationships/notesMaster" Target="/ppt/notesMasters/notesMaster1.xml" Id="R17199a691d0b4c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c14e1d9da465d" /><Relationship Type="http://schemas.openxmlformats.org/officeDocument/2006/relationships/notesMaster" Target="/ppt/notesMasters/notesMaster1.xml" Id="Ra9545df5841d43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7fc05de0ce462a" /><Relationship Type="http://schemas.openxmlformats.org/officeDocument/2006/relationships/notesMaster" Target="/ppt/notesMasters/notesMaster1.xml" Id="Rd637df5c4af6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(Member B · 0:00–0:25)</a:t>
            </a:r>
          </a:p>
          <a:p xmlns:a="http://schemas.openxmlformats.org/drawingml/2006/main">
            <a:r>
              <a:t>Ask: “When you plan a trip, how much time do you spend deciding where to go next?”</a:t>
            </a:r>
          </a:p>
          <a:p xmlns:a="http://schemas.openxmlformats.org/drawingml/2006/main">
            <a:r>
              <a:t>Then: “SmoothGo is built for the part of travel most apps ignore: the moment your plan stops working.”</a:t>
            </a:r>
          </a:p>
          <a:p xmlns:a="http://schemas.openxmlformats.org/drawingml/2006/main">
            <a:r>
              <a:t>Replace the six Member placeholders with all group members’ full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(Member B / Member C · 0:25–1:45)</a:t>
            </a:r>
          </a:p>
          <a:p xmlns:a="http://schemas.openxmlformats.org/drawingml/2006/main">
            <a:r>
              <a:t>Explain the difference between discovery and decision.</a:t>
            </a:r>
          </a:p>
          <a:p xmlns:a="http://schemas.openxmlformats.org/drawingml/2006/main">
            <a:r>
              <a:t>A traveller does not need 50 more options; they need one clear answer to “What should I do next, given the crowd?”</a:t>
            </a:r>
          </a:p>
          <a:p xmlns:a="http://schemas.openxmlformats.org/drawingml/2006/main">
            <a:r>
              <a:t>Do not invent survey statistics. The 45-minute example is an illustrative traveller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(Member C · 1:45–2:45)</a:t>
            </a:r>
          </a:p>
          <a:p xmlns:a="http://schemas.openxmlformats.org/drawingml/2006/main">
            <a:r>
              <a:t>SmoothGo is not a booking site. It is a decision layer.</a:t>
            </a:r>
          </a:p>
          <a:p xmlns:a="http://schemas.openxmlformats.org/drawingml/2006/main">
            <a:r>
              <a:t>The four steps are: preferences, live signals, plan, replan.</a:t>
            </a:r>
          </a:p>
          <a:p xmlns:a="http://schemas.openxmlformats.org/drawingml/2006/main">
            <a:r>
              <a:t>Mention that queue assistance is optional and limited to venues that explicitly allow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CUSTOMERS (Member C · 2:45–3:45)</a:t>
            </a:r>
          </a:p>
          <a:p xmlns:a="http://schemas.openxmlformats.org/drawingml/2006/main">
            <a:r>
              <a:t>Explain why Changchun is a sensible pilot: local knowledge, lower acquisition cost, a compact set of attractions and access to university talent.</a:t>
            </a:r>
          </a:p>
          <a:p xmlns:a="http://schemas.openxmlformats.org/drawingml/2006/main">
            <a:r>
              <a:t>The expansion cities are a roadmap, not a claim of current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(Member A · 3:45–6:15)</a:t>
            </a:r>
          </a:p>
          <a:p xmlns:a="http://schemas.openxmlformats.org/drawingml/2006/main">
            <a:r>
              <a:t>Run the 60–90 second demo or play the screen recording.</a:t>
            </a:r>
          </a:p>
          <a:p xmlns:a="http://schemas.openxmlformats.org/drawingml/2006/main">
            <a:r>
              <a:t>Point out the replan moment. Do not narrate every screen.</a:t>
            </a:r>
          </a:p>
          <a:p xmlns:a="http://schemas.openxmlformats.org/drawingml/2006/main">
            <a:r>
              <a:t>Say explicitly: prototype data is illustrative and no real booking is created.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IT WORKS (Member A · 6:15–7:15)</a:t>
            </a:r>
          </a:p>
          <a:p xmlns:a="http://schemas.openxmlformats.org/drawingml/2006/main">
            <a:r>
              <a:t>Be honest: the prototype uses a rule-based score and illustrative data.</a:t>
            </a:r>
          </a:p>
          <a:p xmlns:a="http://schemas.openxmlformats.org/drawingml/2006/main">
            <a:r>
              <a:t>The production roadmap is live venue APIs, opt-in user reports and a learned crowd-forecasting model.</a:t>
            </a:r>
          </a:p>
          <a:p xmlns:a="http://schemas.openxmlformats.org/drawingml/2006/main">
            <a:r>
              <a:t>Explainability matters: the user can see why a stop was recommended.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(Member C · 7:15–8:15)</a:t>
            </a:r>
          </a:p>
          <a:p xmlns:a="http://schemas.openxmlformats.org/drawingml/2006/main">
            <a:r>
              <a:t>Do not attack competitors. Position SmoothGo as a decision layer that can partner with them.</a:t>
            </a:r>
          </a:p>
          <a:p xmlns:a="http://schemas.openxmlformats.org/drawingml/2006/main">
            <a:r>
              <a:t>The table is a qualitative comparison; cite company websites and annual reports in the reference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(Member D · 8:15–9:45)</a:t>
            </a:r>
          </a:p>
          <a:p xmlns:a="http://schemas.openxmlformats.org/drawingml/2006/main">
            <a:r>
              <a:t>The base planner can be free. Revenue comes from optional convenience and merchant tools.</a:t>
            </a:r>
          </a:p>
          <a:p xmlns:a="http://schemas.openxmlformats.org/drawingml/2006/main">
            <a:r>
              <a:t>Do not say you will sell user data.</a:t>
            </a:r>
          </a:p>
          <a:p xmlns:a="http://schemas.openxmlformats.org/drawingml/2006/main">
            <a:r>
              <a:t>The prices are illustrative, not validated market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 (Member E · 9:45–10:45)</a:t>
            </a:r>
          </a:p>
          <a:p xmlns:a="http://schemas.openxmlformats.org/drawingml/2006/main">
            <a:r>
              <a:t>This slide answers the premises requirement directly: software-led, no stores or equipment.</a:t>
            </a:r>
          </a:p>
          <a:p xmlns:a="http://schemas.openxmlformats.org/drawingml/2006/main">
            <a:r>
              <a:t>Stress the QR handoff and the opt-in data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MARKETING (Member E · 10:45–11:45)</a:t>
            </a:r>
          </a:p>
          <a:p xmlns:a="http://schemas.openxmlformats.org/drawingml/2006/main">
            <a:r>
              <a:t>The first campaign should be local and measurable: one city, ten venues, one thousand users.</a:t>
            </a:r>
          </a:p>
          <a:p xmlns:a="http://schemas.openxmlformats.org/drawingml/2006/main">
            <a:r>
              <a:t>Do not claim national reach before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(Member D · 11:45–12:45)</a:t>
            </a:r>
          </a:p>
          <a:p xmlns:a="http://schemas.openxmlformats.org/drawingml/2006/main">
            <a:r>
              <a:t>Label every number as an assumption.</a:t>
            </a:r>
          </a:p>
          <a:p xmlns:a="http://schemas.openxmlformats.org/drawingml/2006/main">
            <a:r>
              <a:t>The purpose is to show financial logic, not to pretend the pilot has real traction.</a:t>
            </a:r>
          </a:p>
          <a:p xmlns:a="http://schemas.openxmlformats.org/drawingml/2006/main">
            <a:r>
              <a:t>Check the arithmetic before the final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RISKS (Member F · 12:45–13:45)</a:t>
            </a:r>
          </a:p>
          <a:p xmlns:a="http://schemas.openxmlformats.org/drawingml/2006/main">
            <a:r>
              <a:t>Discuss compliance openly. A foreign teacher will appreciate that the team has thought about fairness, not just growth.</a:t>
            </a:r>
          </a:p>
          <a:p xmlns:a="http://schemas.openxmlformats.org/drawingml/2006/main">
            <a:r>
              <a:t>Say clearly: scenic areas are information-only until local rules are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(Member F · 13:45–15:00)</a:t>
            </a:r>
          </a:p>
          <a:p xmlns:a="http://schemas.openxmlformats.org/drawingml/2006/main">
            <a:r>
              <a:t>End with the takeaway, not a generic thank-you.</a:t>
            </a:r>
          </a:p>
          <a:p xmlns:a="http://schemas.openxmlformats.org/drawingml/2006/main">
            <a:r>
              <a:t>Restate: clear pain, simple promise, light model, scalable path.</a:t>
            </a:r>
          </a:p>
          <a:p xmlns:a="http://schemas.openxmlformats.org/drawingml/2006/main">
            <a:r>
              <a:t>Invite questions and use the prepared Q&amp;A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Do not invent page numbers or statistics.</a:t>
            </a:r>
          </a:p>
          <a:p xmlns:a="http://schemas.openxmlformats.org/drawingml/2006/main">
            <a:r>
              <a:t>Open each source, copy the exact title, year and URL, and format consistently in Harvard style.</a:t>
            </a:r>
          </a:p>
          <a:p xmlns:a="http://schemas.openxmlformats.org/drawingml/2006/main">
            <a:r>
              <a:t>The SCU Library guide is the authority for the final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231bf6469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6bf9160a414ae8" /><Relationship Type="http://schemas.openxmlformats.org/officeDocument/2006/relationships/slideLayout" Target="/ppt/slideLayouts/slideLayout1.xml" Id="R1893e3e20f3846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3e3e20f3846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8892e960d4381" /><Relationship Type="http://schemas.openxmlformats.org/officeDocument/2006/relationships/notesSlide" Target="/ppt/notesSlides/notesSlide1.xml" Id="R4eddeba2f9c6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760c963f14578" /><Relationship Type="http://schemas.openxmlformats.org/officeDocument/2006/relationships/notesSlide" Target="/ppt/notesSlides/notesSlide2.xml" Id="Rf30567683881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683af1719489b" /><Relationship Type="http://schemas.openxmlformats.org/officeDocument/2006/relationships/notesSlide" Target="/ppt/notesSlides/notesSlide3.xml" Id="Rd9100d9155a244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7cffb5694eba" /><Relationship Type="http://schemas.openxmlformats.org/officeDocument/2006/relationships/notesSlide" Target="/ppt/notesSlides/notesSlide4.xml" Id="R6df3fa3c998a44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9a6c62ced4efa" /><Relationship Type="http://schemas.openxmlformats.org/officeDocument/2006/relationships/notesSlide" Target="/ppt/notesSlides/notesSlide5.xml" Id="Rc24a8176f4844f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bba111e8a40b5" /><Relationship Type="http://schemas.openxmlformats.org/officeDocument/2006/relationships/notesSlide" Target="/ppt/notesSlides/notesSlide6.xml" Id="Ra5ef182c3c0942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6ab0e2e4c44a1" /><Relationship Type="http://schemas.openxmlformats.org/officeDocument/2006/relationships/notesSlide" Target="/ppt/notesSlides/notesSlide7.xml" Id="R08775979b7624f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c7eff5e024705" /><Relationship Type="http://schemas.openxmlformats.org/officeDocument/2006/relationships/notesSlide" Target="/ppt/notesSlides/notesSlide8.xml" Id="R6349ba4de4564e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0e6e26864012" /><Relationship Type="http://schemas.openxmlformats.org/officeDocument/2006/relationships/notesSlide" Target="/ppt/notesSlides/notesSlide9.xml" Id="R35482d32dc4646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869c3d3d4c05" /><Relationship Type="http://schemas.openxmlformats.org/officeDocument/2006/relationships/notesSlide" Target="/ppt/notesSlides/notesSlide10.xml" Id="R996defe5c4ae4d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2cfc94fc4b28" /><Relationship Type="http://schemas.openxmlformats.org/officeDocument/2006/relationships/chart" Target="/ppt/slides/charts/chart1.xml" Id="R701dc98dd9a8488f" /><Relationship Type="http://schemas.openxmlformats.org/officeDocument/2006/relationships/notesSlide" Target="/ppt/notesSlides/notesSlide11.xml" Id="Rcaf28048fede4f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dc310b5bc4b29" /><Relationship Type="http://schemas.openxmlformats.org/officeDocument/2006/relationships/notesSlide" Target="/ppt/notesSlides/notesSlide12.xml" Id="Rbda34ea8258a4d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f7c4dc7ed47d3" /><Relationship Type="http://schemas.openxmlformats.org/officeDocument/2006/relationships/notesSlide" Target="/ppt/notesSlides/notesSlide13.xml" Id="Rbe260f78c9eb46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7cb01b464377" /><Relationship Type="http://schemas.openxmlformats.org/officeDocument/2006/relationships/notesSlide" Target="/ppt/notesSlides/notesSlide14.xml" Id="Ra0c609cd99114a8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0F9D86"/>
            </a:solidFill>
          </c:spPr>
          <c:cat>
            <c:strLit>
              <c:ptCount val="3"/>
              <c:pt idx="0">
                <c:v>Month 6</c:v>
              </c:pt>
              <c:pt idx="1">
                <c:v>Month 9</c:v>
              </c:pt>
              <c:pt idx="2">
                <c:v>Month 12</c:v>
              </c:pt>
            </c:strLit>
          </c:cat>
          <c:val>
            <c:numLit>
              <c:formatCode>"¥"#,##0"k"</c:formatCode>
              <c:ptCount val="3"/>
              <c:pt idx="0">
                <c:v>12</c:v>
              </c:pt>
              <c:pt idx="1">
                <c:v>22</c:v>
              </c:pt>
              <c:pt idx="2">
                <c:v>35</c:v>
              </c:pt>
            </c:numLit>
          </c:val>
        </c:ser>
        <c:ser>
          <c:idx val="1"/>
          <c:order val="1"/>
          <c:tx>
            <c:v>Operating cost</c:v>
          </c:tx>
          <c:spPr>
            <a:solidFill xmlns:a="http://schemas.openxmlformats.org/drawingml/2006/main">
              <a:srgbClr val="D9E3DC"/>
            </a:solidFill>
          </c:spPr>
          <c:cat>
            <c:strLit>
              <c:ptCount val="3"/>
              <c:pt idx="0">
                <c:v>Month 6</c:v>
              </c:pt>
              <c:pt idx="1">
                <c:v>Month 9</c:v>
              </c:pt>
              <c:pt idx="2">
                <c:v>Month 12</c:v>
              </c:pt>
            </c:strLit>
          </c:cat>
          <c:val>
            <c:numLit>
              <c:formatCode>"¥"#,##0"k"</c:formatCode>
              <c:ptCount val="3"/>
              <c:pt idx="0">
                <c:v>18</c:v>
              </c:pt>
              <c:pt idx="1">
                <c:v>22</c:v>
              </c:pt>
              <c:pt idx="2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940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E9"/>
              </a:solidFill>
              <a:prstDash val="solid"/>
            </a:ln>
          </c:spPr>
        </c:majorGridlines>
        <c:numFmt formatCode="&quot;¥&quot;#,##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66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7609C8-B874-43BD-A0DB-0000551B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BE14-E45F-4345-AA8A-0E6C64F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A11B7-6719-4210-9286-B069C1F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3A32"/>
          </a:solidFill>
          <a:ln xmlns:a="http://schemas.openxmlformats.org/drawingml/2006/main" w="9525">
            <a:solidFill>
              <a:srgbClr val="1D50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2ECF-7F47-42E6-9737-19B4AE03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D2ED0-3638-41DD-9506-8920FC1F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81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SMOOTHGO  ·  AI TRAVEL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48A0E-643D-4134-AC5B-41D656CE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Travel smart.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66373-5373-45B4-B6CB-F472529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Skip the wait.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FE9F3-8AD8-4EB4-9EC5-3AE917C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9E2"/>
                </a:solidFill>
                <a:latin typeface="Arial"/>
                <a:ea typeface="Arial"/>
                <a:cs typeface="Arial"/>
              </a:rPr>
              <a:t>An AI-assisted travel planner that turns live crowd signals into a calmer, personal day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A626-F405-4C86-B016-ED130A3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429000" cy="4038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3028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92684-C09B-48BE-BDB5-C2655A86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A CALMER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2954-6AF5-4DE5-9005-6D386C1D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71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Changchun · Sunday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DA6AF-FD95-4607-87E7-4405DA28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E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87F5D-1835-45C4-9547-98D6153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213" y="2647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8564-A3EA-4207-8FAA-F694D94B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9C9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C9BE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C9CFD-5DB9-454A-8BFA-DAAD266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90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Jingyuetan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B64CA-32CE-4321-B179-C8CBD95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95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9FC0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C0B5"/>
                </a:solidFill>
                <a:latin typeface="Arial"/>
                <a:ea typeface="Arial"/>
                <a:cs typeface="Arial"/>
              </a:rPr>
              <a:t>18 min queue · low crowd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11A70-897E-4DD1-9E02-EB4E2D3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BC611-608F-4EB2-9176-8310B51D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213" y="33909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29BC0-FC85-47E3-85EA-496444F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9C9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C9BE"/>
                </a:solidFill>
                <a:latin typeface="Arial"/>
                <a:ea typeface="Arial"/>
                <a:cs typeface="Arial"/>
              </a:rPr>
              <a:t>12:10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BC50D-1334-4931-A45B-7A63DEA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33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Hill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A92E6-A496-45C4-9061-ADF2E9FA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38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9FC0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C0B5"/>
                </a:solidFill>
                <a:latin typeface="Arial"/>
                <a:ea typeface="Arial"/>
                <a:cs typeface="Arial"/>
              </a:rPr>
              <a:t>Lunch + design market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B8066-4FD0-4E27-9465-BF6BEC1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AA335-9E9B-49B8-974A-F14E9F5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9C9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C9BE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CDD19-EB7C-4ABC-AA70-8B7A253F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Guilin Road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7FA9C-93B7-4C09-85A8-63A22EBC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814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9FC0B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C0B5"/>
                </a:solidFill>
                <a:latin typeface="Arial"/>
                <a:ea typeface="Arial"/>
                <a:cs typeface="Arial"/>
              </a:rPr>
              <a:t>12 min queue · food window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5465E-D796-4B7A-83F6-20FD9162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4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10BF7-EA06-43AB-9486-D4744640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1h 20m saved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DD22A-4EC0-423F-914D-39223FBC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87AC9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7AC9F"/>
                </a:solidFill>
                <a:latin typeface="Arial"/>
                <a:ea typeface="Arial"/>
                <a:cs typeface="Arial"/>
              </a:rPr>
              <a:t>REPLANNED IN 1.2s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045EE-947F-4E83-861D-52064142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Presented by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35B84-EF1D-4D0C-90C2-1A8CDC2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 1  ·  Member 2  ·  Member 3  ·  Member 4  ·  Member 5  ·  Member 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19674-4CAD-4549-B915-603E03C0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3AA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3AA9D"/>
                </a:solidFill>
                <a:latin typeface="Arial"/>
                <a:ea typeface="Arial"/>
                <a:cs typeface="Arial"/>
              </a:rPr>
              <a:t>Changchun Normal University  |  Southern Cross University  |  2026</a:t>
            </a:r>
          </a:p>
        </p:txBody>
      </p:sp>
    </p:spTree>
    <p:extLst>
      <p:ext uri="{BB962C8B-B14F-4D97-AF65-F5344CB8AC3E}">
        <p14:creationId xmlns:p14="http://schemas.microsoft.com/office/powerpoint/2010/main" val="1542202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52A3A-5D49-461B-90BD-FF0C676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291E9-5BEE-485E-97D5-55006F0C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The itinerary is not the hard part.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The queue 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8B47E-3E42-4BB6-8677-43B7809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04800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7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4538B-FB0B-44AE-B485-EA69848F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14A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14A34"/>
                </a:solidFill>
                <a:latin typeface="Arial"/>
                <a:ea typeface="Arial"/>
                <a:cs typeface="Arial"/>
              </a:rPr>
              <a:t>A TYPICAL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66D6-D4CD-4FBC-B7B1-FB88DD3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150" b="1">
                <a:solidFill>
                  <a:srgbClr val="FF6B4A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6B4A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E1A7A-E53C-49F6-AF2D-8E7AF5B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minutes in one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40476-DF80-4F9E-8A04-082A39A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That can erase an entire stop from a short trip.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D05E3-E4A3-41E5-8DD1-FFC5931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41B6-C8E7-4EFE-8216-505D7F03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71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0ECA7-C1EE-4831-A44A-20A3B66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Time disappears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C07A1-9A1A-49B9-B850-9CB0D8E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Travellers lose hours waiting, not exploring.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52742-95DD-437D-99F5-E566CD7E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97A67-8E44-42FB-A8D8-3BD201F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BF3F1-D6A1-4338-B5BD-3744AFF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385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55EB0-5951-4D53-931C-1500F6A2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Plans break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E0294-B8F7-4C23-A586-C4809964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4807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Crowds, weather and opening hours change by the hour.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6C24D-1D29-4284-A773-5F59CB46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10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7C78B-706C-40B4-B888-77366B5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8E930-CBD4-4058-A85F-CE41089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05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C762C-3D9B-4C20-81CB-CF83248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00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Apps answer the wrong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F07B3-831F-4425-8471-AAC68353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1487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Most show what exists, not what is worth doing now.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CE527-6494-48B3-A02F-0642091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086B5-A660-4DC6-9DDE-DF674BE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769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The opportunity: make the next decision, not another list.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331BE-8633-4E0D-B204-4E82DA49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744DF-0C51-4B80-B2FE-19C7470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47D87-212E-4B61-99D9-7B0EE9C0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244113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A23D2-35A9-4BEE-A812-E465F93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OUR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50F74-BFDC-438B-AD47-84516752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A day plan that changes when the city does.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EC654-8473-4280-9810-DBB8F5C4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3D9FA-5C6A-4909-A657-5FFE8E1A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C9EB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ADB04-7E0A-48A7-A1ED-BEC207EE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5713A-C3F4-4358-85AB-EB579B1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Preferences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90A7C-008C-4F1D-8A04-703CA00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Interests, pace, group and start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91CF5-2AE7-4900-B466-37918A99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A33CF-92EF-4601-8EF4-4842821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C9EB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7F523-0719-47F6-81A6-03D0919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5F515-5420-4961-9A5E-645B064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Live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C51DA-A8D4-45C7-80E9-6DA5B139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Crowd pressure and expected queue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56E6E-7C13-4899-86D5-AB8711B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5334D-69E8-4BE0-A240-ED0319C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C9EB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FB9A0-E5F2-4C6D-A29A-61D888A2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E5C03-356C-4C36-BB0F-AA6F5C5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A real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E7FA0-DD51-4B71-AF07-A82DABD8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 time-boxed route with travel and meals.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66DCE-F8CD-4C2F-A2FD-0F1DBB01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6EFCB-5478-4ED4-A8E6-59C98B30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9525">
            <a:solidFill>
              <a:srgbClr val="0A24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B67A4-8C2A-4E19-9CEF-0FB8ADE0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EC0D6-50C1-48B4-9132-44029B29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Replan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CAC0C-F7D2-4C49-85B3-4A9D94A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Swap the busy stop before the day is lost.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6A443-A65B-4362-B00E-081BB04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A9FF6-C95A-4D34-AA50-1C231535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Optional: verified queue assistance where venue rules allow.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4F23F-2E46-454D-9FF8-7BBDFE5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DB7AA"/>
                </a:solidFill>
                <a:latin typeface="Arial"/>
                <a:ea typeface="Arial"/>
                <a:cs typeface="Arial"/>
              </a:rPr>
              <a:t>No ticket skipping. No priority access.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D0082-FE69-49B4-9DC8-C922E0EB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F16BA-081D-43CE-9974-49EEB132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279B4-0147-436C-BA7F-EB0F344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2701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B7590-A0C3-480F-BDAF-126DCF9D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TARGET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3C43-7022-449E-8FEF-F974686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Three travellers, one shared pain.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72C2-A3ED-494E-B738-9DA1368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147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33A80-D4F5-4836-9B21-4F1E697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9E5D8-9EF5-43CA-90D4-A05ABBD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E64AE-9E3A-4E19-899A-4CBFEA7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Independent travellers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243E-9F46-4EFF-9315-AFD2A14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Want flexibility without wasting the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A49DE-47CB-4051-B0EC-5E3A5EF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Need: a better next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BEDFE-1243-44A5-A52E-C5B7524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3147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7E4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6C47D-C8C8-4335-ABA4-06F3DE9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451B2-5918-474C-91C3-2665FE42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4D198-10D0-4C77-B890-64A2895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ACF17-420F-4579-8F74-E4D6B1C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Need a realistic pace and fewer meltdowns.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8DFC7-5332-45A1-95DE-B96386DD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3B6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B63F"/>
                </a:solidFill>
                <a:latin typeface="Arial"/>
                <a:ea typeface="Arial"/>
                <a:cs typeface="Arial"/>
              </a:rPr>
              <a:t>Need: shorter queues, clearer timing.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1C3F2-F47D-4DDF-A0D2-BDE3341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3147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A3DBD-36E6-4C83-990C-1F87927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6CE3A-8BC3-4427-A8AD-F7A09D97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688BC-D72B-40DD-A228-1711EED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Business travellers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CE8AA-7E5F-467E-B661-0DC25126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Have short windows and high time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6113F-C363-4BF3-A2CD-74A0303D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F6B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4A"/>
                </a:solidFill>
                <a:latin typeface="Arial"/>
                <a:ea typeface="Arial"/>
                <a:cs typeface="Arial"/>
              </a:rPr>
              <a:t>Need: a plan that protects the hour.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DA767-B233-4732-B9EA-0434B587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93F3D-CC9F-4C0F-94C2-7AF8EF7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PILOT MARKET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23791-0B79-479D-8C8E-C5C37F1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Changchun, Jilin Province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E4523-7190-4D9F-ADA9-A465111A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67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Changchun  →  Xi’an  →  Chongqing  →  Changsha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D64A3-798F-4B7B-AD4D-0A20627D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E46E3-F7E0-4A75-9BE2-0595C26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EC0A9-1E5A-41BA-A120-8EE756B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129104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BEE05B-03E9-48BE-B4E2-0FA7290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A33FC-363C-481C-8A75-E448239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From three preferences to a calmer 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97A77-3620-4F3D-98C8-88A75F5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819400" cy="40957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19050">
            <a:solidFill>
              <a:srgbClr val="173F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FDFF7-04D6-4F38-8D71-D5F37AAC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SMOOTHGO · CHANGCHUN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F9C9F-3294-4C42-81D8-9EE8A6D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calmer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EB0D1-8EF2-4898-AE53-E8BEAEC9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22479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91B80-52FB-42E1-ACDD-3F3D9E56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1h 20m saved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53FAC-0B74-4C2E-B82A-79F628C8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1981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FC0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C0B5"/>
                </a:solidFill>
                <a:latin typeface="Arial"/>
                <a:ea typeface="Arial"/>
                <a:cs typeface="Arial"/>
              </a:rPr>
              <a:t>3 stops · balanced 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E58F3-1078-46FD-B868-7C6953E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8376A-E16C-4434-AEBA-5FAFC864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CB64E-DC57-4128-827E-1B955C7B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Jingyuetan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09CC-872D-439C-A77D-9695DCB1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18 min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F51C6-1622-437A-827D-A559724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59A6B-9D1B-46B8-94DE-AC98314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12:10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95F51-9475-4012-A93F-58C5E1F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76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The Hill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0B327-9094-4575-8011-758E1C0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672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29 min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D9553-2E51-445C-BB2C-0226CC8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FE3BB-1BA1-43E6-AA20-D12613D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5139F-6A06-4DBB-B4D6-25FB5835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Guilin Road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9F159-2A07-48F1-BFE9-621E51FC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768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12 min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5F8BE-931C-4D74-A71B-C00246B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62293-639E-4C1D-91AE-3DA47A44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2927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Replan around crowds  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7A43C-E33C-4CAE-B16E-0EAFE4E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59F53-362E-437D-900E-0CB7F4E3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9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CE3BB-EC45-4409-992D-5865C6E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21EC9-1794-4EEE-822B-357BA15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240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Interests, pace, group and start time.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F109C7-27A3-4998-9C2D-A4E1CDC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0629C-75FC-49EE-9B95-78E1498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5F680-4F13-4F70-BC19-CA9EDBE3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BE7E7-AEDE-4F27-98F2-A1C83E5D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 time-boxed plan with travel and meals.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23FF8-1D36-430C-891E-BC4C00A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9D2417-F554-49CD-AAC9-799384B0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D7909-CBEE-41E6-A959-08FF042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See live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71BCE-E584-4294-9545-DAFEEA0A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56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Crowd and queue signals for every stop.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88247B-AB95-4E9C-9B29-EDBE72C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1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9525">
            <a:solidFill>
              <a:srgbClr val="0F9D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4EE0F-03C5-4B4E-BE64-3F96F509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A269E7-7A4B-43A7-8F33-8C42E40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81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Replan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0B2FA5-7475-45C3-B8DE-45891B4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One tap swaps the crowded stop.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C72551-DA50-4265-9162-FD19183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95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1A9CED-5DC2-4318-8E1A-634C6871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530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67866-8977-4C2B-84A7-BA44513F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67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4CB104-CC21-4211-A59B-43B02B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Request verified queue assistance.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B4FE1-4DE5-4009-82D9-C13D5CB0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38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632715-7CE2-41E3-9EA5-EFB4233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Live prototype · illustrative data · no real bookings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49DC40-BB06-48B0-96D4-B034491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1C629D-84C4-4730-9608-1A9BDBD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426DB9-CC1A-408C-B513-E1C59DD5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850421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68B2D-A9BE-425F-A718-99E0743F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E9335-811B-400E-9C2D-86D8D7E7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A transparent score, not a black box.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CAA2-78ED-47B0-ABA9-658C914A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90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BFE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4B41D-E45C-4973-9919-04266A0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39A45-2DF8-4D62-8A19-2A692220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Interest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3DB62-BA49-48F5-92F6-4BF6554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Does this place fit what you came for?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73CEF-0745-4777-9C49-BF2DF19B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90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7376-51DC-4C43-9A83-812A8E2C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C7573-96B5-406F-B483-92DEA27B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81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Crowd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0BB0C-65AE-41AF-81DB-D9839474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67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How busy is it right now?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16DA9-FA66-46AC-AECA-0014487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90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A8E0C-3EE8-402A-A78B-E9870C7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6DF10-F174-4D88-B14B-CAAEAE7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Queue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48E1B-B309-476C-B03A-5900498C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How long will you actually wait?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8C50A-1BC5-4450-BE14-77CAF285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90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4172C-0026-4E2C-A433-21DAB71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39092-D55A-4904-ACD2-6F59E02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Travel + time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84A13-C887-44A1-B4AF-8D734908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Can you still finish the day calmly?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5DF7E-E0DD-4634-8D25-069B353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BFE9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EB6D4-00F6-4B83-9054-160A0A2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LIVE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6FA38-409B-4957-83EF-E9C9F9B0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Venue signals + opt-in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C091E-05B2-42C0-A5B9-6604179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82242-BB6A-4290-9DEF-CFD7233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309B4-2777-4E85-8C34-4B230A8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5BD6D-73D1-4D18-8B77-38B7198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38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Explainable next-stop ranking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487EC-0E7B-4CE5-98D3-7F3A484D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7B862-4901-4FA0-9D6F-749D0F3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37518-C62E-4C40-BEF5-51AC7A7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386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F2E1E-C435-4EA7-8022-71DFAC69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Time-boxed route + reasons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A41A2-DEC8-4CB1-9CD6-159D501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2B7B5-9F2B-4798-93A5-0BC85D19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26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Prototype: rule-based scoring with illustrative data.   Production: live APIs + learned crowd forecasting.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FE906D-B69D-454A-A9AC-44784EC4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B66F84-9A7C-4CD4-A8D3-A800C98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4E3ED0-023F-492D-B709-E2D1A96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275448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38D38-4323-4F66-84CF-43C8F48D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MARKET AND 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F66A-F39D-4A4B-AF26-0A8C561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81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Discovery is crowded. Decision support is not.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57500"/>
                <a:gridCol w="5581650"/>
              </a:tblGrid>
              <a:tr h="514350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Platform type</a:t>
                      </a:r>
                    </a:p>
                  </a:txBody>
                  <a:tcPr marL="91440" marR="91440" marT="45720" marB="45720">
                    <a:solidFill>
                      <a:srgbClr val="0A24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does well</a:t>
                      </a:r>
                    </a:p>
                  </a:txBody>
                  <a:tcPr marL="91440" marR="91440" marT="45720" marB="45720">
                    <a:solidFill>
                      <a:srgbClr val="0A24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leaves open</a:t>
                      </a:r>
                    </a:p>
                  </a:txBody>
                  <a:tcPr marL="91440" marR="91440" marT="45720" marB="45720">
                    <a:solidFill>
                      <a:srgbClr val="0A241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Trip.com / Ctrip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Booking and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Little dynamic replanning around queues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Meituan / Dianping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Local food and reviews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Fragmented across venues; not a full-day plan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Travel content apps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Inspiration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No live operational 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Single-venue queue tools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One waiting list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No personalised, cross-venue itinerary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834B-036D-42B0-886C-5DB2C09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B368-C0FC-43A6-A3E3-9F5D73D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gap: who tells you what to do next?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0E46-9D4A-4605-BFB7-3D855CA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86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SmoothGo: cross-venue, queue-aware, dynamic.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99B85-1E07-44DB-8174-AD888BC7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04066-2B5C-4648-A3EC-008F911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A320-1197-4C3E-8A27-77BFBA6E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863331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B5FC2-04F6-4542-B152-302F7282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B48E6-EF60-4B08-BBDE-A503E01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We earn when we save time, not when we add clutter.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A03E4-F00A-4004-B15A-A76EB5AE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147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8B51D-8C59-470F-B4DD-A76BEAAE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15–20%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259B1-5E1A-415C-A192-085D810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Queue-assist commission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C43CF-B82E-4931-BF8A-E38D7B7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 share of each completed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8E3DB-7501-4D9E-8FAE-510E3DB0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3147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4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B1F5F-2A04-41CE-BE77-12688A0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3B6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B63F"/>
                </a:solidFill>
                <a:latin typeface="Arial"/>
                <a:ea typeface="Arial"/>
                <a:cs typeface="Arial"/>
              </a:rPr>
              <a:t>¥500+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AAD86-94E5-49D9-A485-AF9CC43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Merchant promotion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166E8-BBE4-43B7-A3D5-8DE07698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Priority placement for partner venues.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712EA-E620-4869-BC10-0981C9F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3147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E2EC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FE5F5-E886-4DCF-9255-B983CA15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F6B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6B4A"/>
                </a:solidFill>
                <a:latin typeface="Arial"/>
                <a:ea typeface="Arial"/>
                <a:cs typeface="Arial"/>
              </a:rPr>
              <a:t>¥9.9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5057A-81A8-4A48-A3A4-9731893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Premium subscription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2D54C-650E-4C7C-9521-8902D3E0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Advanced forecasts and multi-day plans.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F79B2-F028-44C5-A7CE-35710616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2BFF9-FC50-4E1D-B23C-15175ED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PRICING EXAMPLE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19258-1C3D-4714-ACD5-A8D794D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30 min ¥10  ·  60 min ¥18  ·  90 min ¥26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EF40A-CBA3-41A7-9A43-90CAD92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Launch offer: first request free; off-peak discounts.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6503F-5FC0-4D6F-A191-E51B9F70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E7B54-FBC3-47BA-8BE7-054974E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ACD66-9AC1-4000-BDD3-3F045A55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758754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8AE2E-9D0D-4072-A6C5-73DBC62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OPERATIONS AND PREMISES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C8B97-7141-4834-813E-0202CE1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Light asset, local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739A6-D9B9-46FD-8D97-12D51DC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959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1A228-256D-4272-BC1A-5F6C6347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705EF-3038-43C9-B78A-3BABAF6D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347E-90B2-4CA5-8DF1-65AF828B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Premises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9C4BF-5B5B-43CA-976C-06220AD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University incubator or co-working space. No physical stores.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DB9F6-D659-4874-9F8E-90C279B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52959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91409-F5D9-4C60-942C-6E19A80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417B7-E6AD-44BB-A226-97F9533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562D1-D0FF-4B20-B413-337E839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C2AA6-DE0D-4094-AE4B-8EEF5651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Venue partnerships, public tourism data and opt-in user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FF05C-4D8A-461B-BF8B-FBEFF22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959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4DD0B-9DEF-49C6-BEC8-0877C09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9DB53-02A6-4878-A2E0-3553385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6871B-2513-4E90-B5B5-D60F0E0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Supply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A9D8A-091D-48EF-A6E8-D2D5D0E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Vetted part-time queue assistants with ratings and deposits.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D2B78-FF13-402A-BFF3-2E0C8FAD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2959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A69C0-1A13-4204-8C92-28E8FB1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EFA1A-D83B-42D2-9B48-1EE3082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E8AB0-A7C0-494D-A80B-B5C94662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1526F-68B8-4008-98F3-CF1835AC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QR confirmation at the venue; platform settles automatically.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A5869-9819-4D38-B5EB-AD03768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E3144-F027-4A85-9F8D-DCD42A74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stores. No fleet. No ticket inventory.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0DC7D-3FE6-4DD0-9087-9053F46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57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Compliance stays in the design.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36167-3764-4E20-A1E1-C611CF4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80D3F-BED8-4BDE-AF6B-44D4E39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8D4D9-87DE-45C6-94B5-98CA0B9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734277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56FFBF-4613-474D-9F30-781F007A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MARKETING AND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56510-27EB-4F56-B56E-04CC749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Start where the queue is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2E01C-9AEC-4C69-AC28-DDD48280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B8606-60F2-47DB-B73C-F224AD14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2E255-3925-4727-841C-7C2C41B9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Short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1B364-D9E7-4684-8F57-BDB22A15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“How long is the queue at ___ right now?”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0652F-C893-4B45-B88C-B3951D5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81230-40DE-4D42-A400-A2BE137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51B00-9486-4D53-A61D-39F4C16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QR at venues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A9010-F79A-4398-ACCA-93705E28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 useful tool at the exact moment of need.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AA4A7-5ADC-44A5-8356-268AC18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7356E-C025-42F6-9630-2E13A44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2D6FF-CD18-447D-802D-54FD1C9B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Travel partners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61435-94BC-4A26-904F-AF40947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An add-on for independent travellers.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F2CA3-B967-44D5-8200-B553B89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38199-C52E-4BF2-A905-896C1D7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BB9A2-6088-4BC8-AE36-AB2FCA19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Campus ambassadors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594ED-8D04-46BC-8215-D63CA5C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24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Local trust and a low-cost first user base.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0A0E6-B86F-474A-AC68-5CEF79A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44577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EA581-B12C-43A2-BC05-A9BC9DCA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0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8-WEEK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17FED-7FF7-4DC0-8F0F-8A1A6C3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venues · 1,000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D3380-B1CB-4348-8AE5-AAB30B7A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8D06E-0828-48DD-BF5D-8D0F7836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E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4E4DE-87A1-481B-821C-B9594FF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95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Changchun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C40DE-023B-47AD-B70B-98EE9CB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2B711-26C6-4EF5-A247-146909E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7D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1C7"/>
                </a:solidFill>
                <a:latin typeface="Arial"/>
                <a:ea typeface="Arial"/>
                <a:cs typeface="Arial"/>
              </a:rPr>
              <a:t>Xi’an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CDD5F-E816-4B11-A6D6-9C72E71E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519C1-CBEF-46C3-A749-22E68400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81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7D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1C7"/>
                </a:solidFill>
                <a:latin typeface="Arial"/>
                <a:ea typeface="Arial"/>
                <a:cs typeface="Arial"/>
              </a:rPr>
              <a:t>Chongqing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304A8-C9BC-4A84-85D3-3AC27AEC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E8C99-57C8-4235-B4B1-3BE2516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244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7D1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D1C7"/>
                </a:solidFill>
                <a:latin typeface="Arial"/>
                <a:ea typeface="Arial"/>
                <a:cs typeface="Arial"/>
              </a:rPr>
              <a:t>Changsha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83750-7F2B-4AC8-B5E6-B4BF5BD0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29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B7AA"/>
                </a:solidFill>
                <a:latin typeface="Arial"/>
                <a:ea typeface="Arial"/>
                <a:cs typeface="Arial"/>
              </a:rPr>
              <a:t>Prove one city before scaling.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2A4BE7-5A39-4E0D-9618-5BE8242C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06084-51C2-4717-A7E5-AFD78FD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67890-8398-4EB0-ADCF-602ED08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746818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1B9E3-4D06-4E8C-99A3-FBD89AB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FUNDING AND P&amp;L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1D2D-CA7B-4F68-8732-19A06E5A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A lean pilot with a clear path to break-even.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207AC-6971-4885-BDE5-F5353F3D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905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BFE9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7B0BD-6FCC-4AB6-AD1A-95AFDF7C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Start-up 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03EEA-72C7-4BB6-AEB4-919ACC8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¥80,000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48526-207C-46D3-9416-E2CD1AC9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905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F086-4711-4BD8-89C2-9300AD69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Funding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30E9F-02E8-4C37-B359-EE8189F2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Team + university fund + local angel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202F-9B48-4574-977B-361CB72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905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99A89-13FB-4541-AFD4-0F3ACDB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Main costs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0CF5D-E901-4D8D-A6D9-F3654DF4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Development, APIs, marketing and 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6CA25-2566-4C77-99B0-E29210A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905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9B3E5-34B8-4AB3-8DD4-83F07B96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Break-even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1F40C-05DA-4294-A627-77E6A96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Month 9 after launch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010150" y="2133600"/>
          <a:ext xmlns:a="http://schemas.openxmlformats.org/drawingml/2006/main" cx="64960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1dc98dd9a8488f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653A0-08A6-4156-9E7E-28B3FBE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81600"/>
            <a:ext cx="649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Illustrative monthly economics (¥000)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D8274-D7AF-4A24-9E1E-B012B550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649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Assumptions, not actual results. Verify the model before presenting.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B062F-154A-469D-B9F7-A8ABE507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EFC5B-7019-4ED7-859A-A2F1D66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E2B6B-8EE1-4A32-8E2E-030CC935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301072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4A9C5-A769-4F8F-9C1B-A9F235D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CHALLENGES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B91D8-58DC-48A5-A2DA-AF785AE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The hard part is trust, not code.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724650"/>
              </a:tblGrid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Challenge</a:t>
                      </a:r>
                    </a:p>
                  </a:txBody>
                  <a:tcPr marL="91440" marR="91440" marT="45720" marB="45720">
                    <a:solidFill>
                      <a:srgbClr val="0A24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0A241F"/>
                    </a:solidFill>
                  </a:tcPr>
                </a:tc>
              </a:tr>
              <a:tr h="59055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Crowd data is inaccurate at first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Start with user reports and visible queue estimates; partner with venues.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Paid queueing may be seen as unfair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Prioritise restaurants and non-strict queues; information-only in scenic areas.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</a:tr>
              <a:tr h="59055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Assistants may fail or behave poorly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ID verification, ratings, deposits and clear handoff rules.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0B1F1A"/>
                          </a:solidFill>
                          <a:latin typeface="Arial"/>
                          <a:ea typeface="Arial"/>
                          <a:cs typeface="Arial"/>
                        </a:rPr>
                        <a:t>Demand is seasonal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75" b="0">
                          <a:solidFill>
                            <a:srgbClr val="294039"/>
                          </a:solidFill>
                          <a:latin typeface="Arial"/>
                          <a:ea typeface="Arial"/>
                          <a:cs typeface="Arial"/>
                        </a:rPr>
                        <a:t>Add local-life use cases and off-peak promotions.</a:t>
                      </a:r>
                    </a:p>
                  </a:txBody>
                  <a:tcPr marL="91440" marR="91440" marT="45720" marB="45720">
                    <a:solidFill>
                      <a:srgbClr val="FAFC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F2AE9-28DB-45F7-99E1-A8C28A0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A2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CAA20-3B0E-45C9-B720-80713073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start with information, not priority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9E5A1-70BF-4F28-8907-27D9F53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62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Fairness is part of the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CFC94-49F8-4EA4-8AAA-B644675E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C8D81-D06F-4F65-B995-C6B707DB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F22A0-FFC3-4213-B432-E697188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2521814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2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01976-6F37-4894-BCDB-166BF37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91892-BF5E-46BA-8F7F-3C750C23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 shift in timing can change a whole 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F8B95-6DB6-447D-A44B-ADE015B2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4574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3A31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0AE77-8081-4942-80CC-F2D04AB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5C0ED-BE72-4953-B960-D98C5A60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90BCD-EEF9-4BAE-91A9-9471A15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6D2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2C8"/>
                </a:solidFill>
                <a:latin typeface="Arial"/>
                <a:ea typeface="Arial"/>
                <a:cs typeface="Arial"/>
              </a:rPr>
              <a:t>Waiting wastes the traveller’s most limited resource.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EA555-CCD6-4B3E-B64F-71F3D827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4574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3A31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67BB3-77C2-4FDF-BCE0-ED9B616E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02047-2F0F-4B96-A853-5BDCB40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Simple 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50E83-CBCE-482F-B893-629F52F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6D2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2C8"/>
                </a:solidFill>
                <a:latin typeface="Arial"/>
                <a:ea typeface="Arial"/>
                <a:cs typeface="Arial"/>
              </a:rPr>
              <a:t>See more. Stand in line less.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6D942-C91A-4C14-A417-C2D72D0A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4574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3A31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1E1EC-1BF2-4EC4-9329-3F5B821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426F7-6E19-4868-A6A2-30441D78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Light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B38F5-2EB1-44E5-8B45-0953C08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6D2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2C8"/>
                </a:solidFill>
                <a:latin typeface="Arial"/>
                <a:ea typeface="Arial"/>
                <a:cs typeface="Arial"/>
              </a:rPr>
              <a:t>Software, partnerships and local assistants.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AA132-652A-457E-9F1E-D166F22B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45745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3A31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7524C-7842-49BA-84DD-19691D9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B69ED-75A9-4020-A4FC-487FAFD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Scalable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37069-AADF-4524-AD52-05CE8ACE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B6D2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2C8"/>
                </a:solidFill>
                <a:latin typeface="Arial"/>
                <a:ea typeface="Arial"/>
                <a:cs typeface="Arial"/>
              </a:rPr>
              <a:t>One city, then a repeatable playbook.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A73D8-286C-4DA0-B3BB-80D754A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524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3A31"/>
          </a:solidFill>
          <a:ln xmlns:a="http://schemas.openxmlformats.org/drawingml/2006/main" w="9525">
            <a:solidFill>
              <a:srgbClr val="1C4A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22FF5-422F-48C7-88D2-20030FF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8D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B7AA"/>
                </a:solidFill>
                <a:latin typeface="Arial"/>
                <a:ea typeface="Arial"/>
                <a:cs typeface="Arial"/>
              </a:rPr>
              <a:t>PILOT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08F4A-C551-4683-A0DF-64CE53F0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Changchun venues · 1,000 users · 8 weeks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12D45-F023-4AD8-B49A-CF01489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530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150" b="1">
                <a:solidFill>
                  <a:srgbClr val="48E0B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8E0BB"/>
                </a:solidFill>
                <a:latin typeface="Arial"/>
                <a:ea typeface="Arial"/>
                <a:cs typeface="Arial"/>
              </a:rPr>
              <a:t>Thank you.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2C53C-14FD-430E-AF0B-3BCC7D5E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102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A31C9-250A-4907-940A-E26AC5CE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3AA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3AA9D"/>
                </a:solidFill>
                <a:latin typeface="Arial"/>
                <a:ea typeface="Arial"/>
                <a:cs typeface="Arial"/>
              </a:rPr>
              <a:t>SmoothGo  |  Changchun Normal University × SCU</a:t>
            </a:r>
          </a:p>
        </p:txBody>
      </p:sp>
    </p:spTree>
    <p:extLst>
      <p:ext uri="{BB962C8B-B14F-4D97-AF65-F5344CB8AC3E}">
        <p14:creationId xmlns:p14="http://schemas.microsoft.com/office/powerpoint/2010/main" val="1372841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1B736-E49C-4FB5-AEA6-40B4E5CF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9B450-9B32-46A3-8112-9B56232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B1F1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1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E529A-2A9F-483C-A3A4-3A453A3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Harvard referencing style · verify each source before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54839-252A-4F7A-9BEF-EDF73C7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374B9-C144-47E2-9629-E89A1DC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Meituan (2024) Annual Report 2023. Available at: https://about.meituan.com/en/investor-relations/financial-information/annual-reports (Accessed: 18 October 2026).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0BE87-CABC-4CB5-80CE-2C64C122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714C5-E52B-476F-9403-31FDDAF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Trip.com Group (2024) Annual Report 2023. Available at: https://investors.trip.com/financial-information/annual-reports (Accessed: 18 October 2026).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CB8E-21B3-4A2B-AECA-A345DE1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6C7A0-E029-4137-913C-A9E01F3E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UN Tourism (2024) International Tourism Highlights, 2024 Edition. Available at: https://www.unwto.org/publication/international-tourism-highlights-2024 (Accessed: 18 October 2026).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D1ED2-1146-4410-8FA5-45BC632D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9D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9D86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0C0A8-E29B-40FE-80D0-5DFAE6D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9403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4039"/>
                </a:solidFill>
                <a:latin typeface="Arial"/>
                <a:ea typeface="Arial"/>
                <a:cs typeface="Arial"/>
              </a:rPr>
              <a:t>World Travel &amp; Tourism Council (2024) Travel &amp; Tourism Economic Impact 2024: China. Available at: https://wttc.org/research/economic-impact (Accessed: 18 October 2026).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DE30-9CC4-4866-BEE4-5A3CB25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74502-848D-4B26-8D53-D70FAC8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66D"/>
                </a:solidFill>
                <a:latin typeface="Arial"/>
                <a:ea typeface="Arial"/>
                <a:cs typeface="Arial"/>
              </a:rPr>
              <a:t>Image credits: all visuals in this deck are original diagrams or prototype mock-ups created by the team.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4F9F8-2CDE-4D7E-9888-9A41C70F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530F2-1A4A-40D6-8604-60C92868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SmoothGo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DB7C1-775D-4BFC-8A6D-57B5654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10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6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66D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670125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2026-10-18T11:20:59.3220000Z</dcterms:created>
  <dcterms:modified xsi:type="dcterms:W3CDTF">2026-10-18T11:20:59.3230000Z</dcterms:modified>
</coreProperties>
</file>